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71" r:id="rId13"/>
    <p:sldId id="272"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82F6"/>
    <a:srgbClr val="38BDF8"/>
    <a:srgbClr val="90959F"/>
    <a:srgbClr val="94A3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12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0530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8.png"/><Relationship Id="rId7"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open.toronto.ca/dataset/daily-shelter-overnight-service-occupancy-capacity/" TargetMode="External"/><Relationship Id="rId2" Type="http://schemas.openxmlformats.org/officeDocument/2006/relationships/hyperlink" Target="https://www.toronto.ca/community-people/housing-shelter/homeless-help/toronto-warming-centres/" TargetMode="External"/><Relationship Id="rId1" Type="http://schemas.openxmlformats.org/officeDocument/2006/relationships/slideLayout" Target="../slideLayouts/slideLayout1.xml"/><Relationship Id="rId4" Type="http://schemas.openxmlformats.org/officeDocument/2006/relationships/hyperlink" Target="https://www.toronto.ca/community-people/community-partners/emergency-shelter-operators/expressions-of-interest/homelessness-shelter-operator-expression-of-interest/"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6F9"/>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US"/>
          </a:p>
        </p:txBody>
      </p:sp>
      <p:pic>
        <p:nvPicPr>
          <p:cNvPr id="4" name="Image 0"/>
          <p:cNvPicPr>
            <a:picLocks noChangeAspect="1"/>
          </p:cNvPicPr>
          <p:nvPr/>
        </p:nvPicPr>
        <p:blipFill>
          <a:blip r:embed="rId3">
            <a:alphaModFix amt="85000"/>
          </a:blip>
          <a:srcRect t="7832" b="7832"/>
          <a:stretch/>
        </p:blipFill>
        <p:spPr>
          <a:xfrm>
            <a:off x="0" y="0"/>
            <a:ext cx="12191695" cy="6858000"/>
          </a:xfrm>
          <a:prstGeom prst="rect">
            <a:avLst/>
          </a:prstGeom>
        </p:spPr>
      </p:pic>
      <p:sp>
        <p:nvSpPr>
          <p:cNvPr id="5" name="Shape 2"/>
          <p:cNvSpPr/>
          <p:nvPr/>
        </p:nvSpPr>
        <p:spPr>
          <a:xfrm>
            <a:off x="305" y="0"/>
            <a:ext cx="12191695" cy="6858000"/>
          </a:xfrm>
          <a:prstGeom prst="rect">
            <a:avLst/>
          </a:prstGeom>
          <a:solidFill>
            <a:srgbClr val="0A192F">
              <a:alpha val="75000"/>
            </a:srgbClr>
          </a:solidFill>
          <a:ln w="12700">
            <a:solidFill>
              <a:srgbClr val="FFFFFF">
                <a:alpha val="0"/>
              </a:srgbClr>
            </a:solidFill>
            <a:prstDash val="solid"/>
          </a:ln>
        </p:spPr>
        <p:txBody>
          <a:bodyPr/>
          <a:lstStyle/>
          <a:p>
            <a:endParaRPr lang="en-US"/>
          </a:p>
        </p:txBody>
      </p:sp>
      <p:pic>
        <p:nvPicPr>
          <p:cNvPr id="6" name="Image 1" descr="preencoded.png"/>
          <p:cNvPicPr>
            <a:picLocks noChangeAspect="1"/>
          </p:cNvPicPr>
          <p:nvPr/>
        </p:nvPicPr>
        <p:blipFill>
          <a:blip r:embed="rId4"/>
          <a:srcRect l="-200" r="-200"/>
          <a:stretch/>
        </p:blipFill>
        <p:spPr>
          <a:xfrm>
            <a:off x="0" y="0"/>
            <a:ext cx="12191695" cy="75895"/>
          </a:xfrm>
          <a:prstGeom prst="rect">
            <a:avLst/>
          </a:prstGeom>
        </p:spPr>
      </p:pic>
      <p:sp>
        <p:nvSpPr>
          <p:cNvPr id="8" name="Text 3"/>
          <p:cNvSpPr txBox="1"/>
          <p:nvPr/>
        </p:nvSpPr>
        <p:spPr>
          <a:xfrm>
            <a:off x="866851" y="1714500"/>
            <a:ext cx="10458907" cy="1924812"/>
          </a:xfrm>
          <a:prstGeom prst="rect">
            <a:avLst/>
          </a:prstGeom>
          <a:noFill/>
          <a:ln/>
        </p:spPr>
        <p:txBody>
          <a:bodyPr wrap="square" lIns="0" tIns="0" rIns="0" bIns="0" rtlCol="0" anchor="ctr"/>
          <a:lstStyle/>
          <a:p>
            <a:pPr marL="0" indent="0" algn="ctr">
              <a:buNone/>
            </a:pPr>
            <a:r>
              <a:rPr lang="en-US" sz="4200" b="1" kern="0" spc="-37" dirty="0">
                <a:solidFill>
                  <a:srgbClr val="FFFFFF"/>
                </a:solidFill>
                <a:latin typeface="Montserrat" pitchFamily="34" charset="0"/>
                <a:ea typeface="Montserrat" pitchFamily="34" charset="-122"/>
                <a:cs typeface="Montserrat" pitchFamily="34" charset="-120"/>
              </a:rPr>
              <a:t> Optimizing Warming Center Operations:</a:t>
            </a:r>
            <a:endParaRPr lang="en-US" sz="4200" dirty="0"/>
          </a:p>
          <a:p>
            <a:pPr marL="0" indent="0" algn="ctr">
              <a:buNone/>
            </a:pPr>
            <a:r>
              <a:rPr lang="en-US" sz="4200" b="1" kern="0" spc="-37" dirty="0">
                <a:solidFill>
                  <a:srgbClr val="60A5FA"/>
                </a:solidFill>
                <a:latin typeface="Montserrat" pitchFamily="34" charset="0"/>
                <a:ea typeface="Montserrat" pitchFamily="34" charset="-122"/>
                <a:cs typeface="Montserrat" pitchFamily="34" charset="-120"/>
              </a:rPr>
              <a:t>A Data-Driven Strategic Approach</a:t>
            </a:r>
            <a:endParaRPr lang="en-US" sz="4200" dirty="0"/>
          </a:p>
        </p:txBody>
      </p:sp>
      <p:sp>
        <p:nvSpPr>
          <p:cNvPr id="9" name="Text 4"/>
          <p:cNvSpPr txBox="1"/>
          <p:nvPr/>
        </p:nvSpPr>
        <p:spPr>
          <a:xfrm>
            <a:off x="1371600" y="3619195"/>
            <a:ext cx="9449410" cy="400507"/>
          </a:xfrm>
          <a:prstGeom prst="rect">
            <a:avLst/>
          </a:prstGeom>
          <a:noFill/>
          <a:ln/>
        </p:spPr>
        <p:txBody>
          <a:bodyPr wrap="square" lIns="0" tIns="0" rIns="0" bIns="0" rtlCol="0" anchor="ctr"/>
          <a:lstStyle/>
          <a:p>
            <a:pPr marL="0" indent="0" algn="ctr">
              <a:buNone/>
            </a:pPr>
            <a:r>
              <a:rPr lang="en-US" sz="2100" dirty="0">
                <a:solidFill>
                  <a:srgbClr val="E2E8F0"/>
                </a:solidFill>
                <a:latin typeface="Open Sans" pitchFamily="34" charset="0"/>
                <a:ea typeface="Open Sans" pitchFamily="34" charset="-122"/>
                <a:cs typeface="Open Sans" pitchFamily="34" charset="-120"/>
              </a:rPr>
              <a:t>Maximizing Social Welfare Under Budget Constraints</a:t>
            </a:r>
            <a:endParaRPr lang="en-US" sz="2100" dirty="0"/>
          </a:p>
        </p:txBody>
      </p:sp>
      <p:pic>
        <p:nvPicPr>
          <p:cNvPr id="10" name="Image 3" descr="preencoded.png"/>
          <p:cNvPicPr>
            <a:picLocks noChangeAspect="1"/>
          </p:cNvPicPr>
          <p:nvPr/>
        </p:nvPicPr>
        <p:blipFill>
          <a:blip r:embed="rId5"/>
          <a:srcRect l="-395" r="-395"/>
          <a:stretch/>
        </p:blipFill>
        <p:spPr>
          <a:xfrm>
            <a:off x="5143500" y="4286707"/>
            <a:ext cx="1904695" cy="28346"/>
          </a:xfrm>
          <a:prstGeom prst="rect">
            <a:avLst/>
          </a:prstGeom>
        </p:spPr>
      </p:pic>
      <p:sp>
        <p:nvSpPr>
          <p:cNvPr id="17" name="Text 9"/>
          <p:cNvSpPr txBox="1"/>
          <p:nvPr/>
        </p:nvSpPr>
        <p:spPr>
          <a:xfrm>
            <a:off x="952805" y="6286500"/>
            <a:ext cx="2971800" cy="181051"/>
          </a:xfrm>
          <a:prstGeom prst="rect">
            <a:avLst/>
          </a:prstGeom>
          <a:noFill/>
          <a:ln/>
        </p:spPr>
        <p:txBody>
          <a:bodyPr wrap="square" lIns="0" tIns="0" rIns="0" bIns="0" rtlCol="0" anchor="ctr"/>
          <a:lstStyle/>
          <a:p>
            <a:pPr marL="0" indent="0" algn="l">
              <a:buNone/>
            </a:pPr>
            <a:r>
              <a:rPr lang="en-US" sz="1000" dirty="0">
                <a:solidFill>
                  <a:srgbClr val="94A3B8"/>
                </a:solidFill>
                <a:latin typeface="Open Sans" pitchFamily="34" charset="0"/>
                <a:ea typeface="Open Sans" pitchFamily="34" charset="-122"/>
                <a:cs typeface="Open Sans" pitchFamily="34" charset="-120"/>
              </a:rPr>
              <a:t>March 21, 2026</a:t>
            </a:r>
            <a:endParaRPr lang="en-US" sz="1000" dirty="0"/>
          </a:p>
        </p:txBody>
      </p:sp>
      <p:sp>
        <p:nvSpPr>
          <p:cNvPr id="19" name="Text 5">
            <a:extLst>
              <a:ext uri="{FF2B5EF4-FFF2-40B4-BE49-F238E27FC236}">
                <a16:creationId xmlns:a16="http://schemas.microsoft.com/office/drawing/2014/main" id="{60543008-2199-77C2-9695-4B5FDB1FEF17}"/>
              </a:ext>
            </a:extLst>
          </p:cNvPr>
          <p:cNvSpPr txBox="1"/>
          <p:nvPr/>
        </p:nvSpPr>
        <p:spPr>
          <a:xfrm>
            <a:off x="4466843" y="4105227"/>
            <a:ext cx="3258007" cy="171907"/>
          </a:xfrm>
          <a:prstGeom prst="rect">
            <a:avLst/>
          </a:prstGeom>
          <a:noFill/>
          <a:ln/>
        </p:spPr>
        <p:txBody>
          <a:bodyPr wrap="square" lIns="0" tIns="0" rIns="0" bIns="0" rtlCol="0" anchor="ctr"/>
          <a:lstStyle/>
          <a:p>
            <a:pPr marL="0" indent="0" algn="ctr">
              <a:buNone/>
            </a:pPr>
            <a:r>
              <a:rPr lang="en-US" altLang="zh-CN" sz="1000" b="1" kern="0" spc="75" dirty="0">
                <a:solidFill>
                  <a:schemeClr val="bg2">
                    <a:lumMod val="90000"/>
                  </a:schemeClr>
                </a:solidFill>
                <a:latin typeface="Montserrat" pitchFamily="34" charset="0"/>
                <a:ea typeface="Montserrat" pitchFamily="34" charset="-122"/>
                <a:cs typeface="Montserrat" pitchFamily="34" charset="-120"/>
              </a:rPr>
              <a:t>MMA861: Analytical Decision Making</a:t>
            </a:r>
            <a:endParaRPr lang="en-US" sz="1000" dirty="0">
              <a:solidFill>
                <a:schemeClr val="bg2">
                  <a:lumMod val="9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t="-5" b="-5"/>
          <a:stretch/>
        </p:blipFill>
        <p:spPr>
          <a:xfrm>
            <a:off x="571500" y="1143000"/>
            <a:ext cx="5524805" cy="3143707"/>
          </a:xfrm>
          <a:prstGeom prst="rect">
            <a:avLst/>
          </a:prstGeom>
        </p:spPr>
      </p:pic>
      <p:pic>
        <p:nvPicPr>
          <p:cNvPr id="5" name="Image 1" descr="preencoded.png"/>
          <p:cNvPicPr>
            <a:picLocks noChangeAspect="1"/>
          </p:cNvPicPr>
          <p:nvPr/>
        </p:nvPicPr>
        <p:blipFill>
          <a:blip r:embed="rId4"/>
          <a:srcRect t="-9" b="-9"/>
          <a:stretch/>
        </p:blipFill>
        <p:spPr>
          <a:xfrm>
            <a:off x="6096305" y="1143000"/>
            <a:ext cx="5581498" cy="3143707"/>
          </a:xfrm>
          <a:prstGeom prst="rect">
            <a:avLst/>
          </a:prstGeom>
        </p:spPr>
      </p:pic>
      <p:sp>
        <p:nvSpPr>
          <p:cNvPr id="6" name="Shape 2"/>
          <p:cNvSpPr/>
          <p:nvPr/>
        </p:nvSpPr>
        <p:spPr>
          <a:xfrm>
            <a:off x="571500" y="4572000"/>
            <a:ext cx="3429000" cy="1561795"/>
          </a:xfrm>
          <a:prstGeom prst="roundRect">
            <a:avLst>
              <a:gd name="adj" fmla="val 5712"/>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7" name="Shape 3"/>
          <p:cNvSpPr/>
          <p:nvPr/>
        </p:nvSpPr>
        <p:spPr>
          <a:xfrm>
            <a:off x="571500" y="4572000"/>
            <a:ext cx="3429000" cy="38405"/>
          </a:xfrm>
          <a:prstGeom prst="roundRect">
            <a:avLst>
              <a:gd name="adj" fmla="val 232287"/>
            </a:avLst>
          </a:prstGeom>
          <a:solidFill>
            <a:srgbClr val="94A3B8"/>
          </a:solidFill>
          <a:ln w="12700">
            <a:solidFill>
              <a:srgbClr val="94A3B8">
                <a:alpha val="0"/>
              </a:srgbClr>
            </a:solidFill>
            <a:prstDash val="solid"/>
          </a:ln>
        </p:spPr>
        <p:txBody>
          <a:bodyPr/>
          <a:lstStyle/>
          <a:p>
            <a:endParaRPr lang="en-US"/>
          </a:p>
        </p:txBody>
      </p:sp>
      <p:sp>
        <p:nvSpPr>
          <p:cNvPr id="8" name="Shape 4"/>
          <p:cNvSpPr/>
          <p:nvPr/>
        </p:nvSpPr>
        <p:spPr>
          <a:xfrm>
            <a:off x="4381805" y="4572000"/>
            <a:ext cx="3429000" cy="1561795"/>
          </a:xfrm>
          <a:prstGeom prst="roundRect">
            <a:avLst>
              <a:gd name="adj" fmla="val 5712"/>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9" name="Shape 5"/>
          <p:cNvSpPr/>
          <p:nvPr/>
        </p:nvSpPr>
        <p:spPr>
          <a:xfrm>
            <a:off x="4381805" y="4572000"/>
            <a:ext cx="3429000" cy="38405"/>
          </a:xfrm>
          <a:prstGeom prst="roundRect">
            <a:avLst>
              <a:gd name="adj" fmla="val 232287"/>
            </a:avLst>
          </a:prstGeom>
          <a:solidFill>
            <a:srgbClr val="EF4444"/>
          </a:solidFill>
          <a:ln w="12700">
            <a:solidFill>
              <a:srgbClr val="EF4444">
                <a:alpha val="0"/>
              </a:srgbClr>
            </a:solidFill>
            <a:prstDash val="solid"/>
          </a:ln>
        </p:spPr>
        <p:txBody>
          <a:bodyPr/>
          <a:lstStyle/>
          <a:p>
            <a:endParaRPr lang="en-US"/>
          </a:p>
        </p:txBody>
      </p:sp>
      <p:sp>
        <p:nvSpPr>
          <p:cNvPr id="10" name="Shape 6"/>
          <p:cNvSpPr/>
          <p:nvPr/>
        </p:nvSpPr>
        <p:spPr>
          <a:xfrm>
            <a:off x="8191195" y="4572000"/>
            <a:ext cx="3429000" cy="1561795"/>
          </a:xfrm>
          <a:prstGeom prst="roundRect">
            <a:avLst>
              <a:gd name="adj" fmla="val 5712"/>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11" name="Shape 7"/>
          <p:cNvSpPr/>
          <p:nvPr/>
        </p:nvSpPr>
        <p:spPr>
          <a:xfrm>
            <a:off x="8191195" y="4572000"/>
            <a:ext cx="3429000" cy="38405"/>
          </a:xfrm>
          <a:prstGeom prst="roundRect">
            <a:avLst>
              <a:gd name="adj" fmla="val 232287"/>
            </a:avLst>
          </a:prstGeom>
          <a:solidFill>
            <a:srgbClr val="10B981"/>
          </a:solidFill>
          <a:ln w="12700">
            <a:solidFill>
              <a:srgbClr val="10B981">
                <a:alpha val="0"/>
              </a:srgbClr>
            </a:solidFill>
            <a:prstDash val="solid"/>
          </a:ln>
        </p:spPr>
        <p:txBody>
          <a:bodyPr/>
          <a:lstStyle/>
          <a:p>
            <a:endParaRPr lang="en-US"/>
          </a:p>
        </p:txBody>
      </p:sp>
      <p:sp>
        <p:nvSpPr>
          <p:cNvPr id="12" name="Text 8"/>
          <p:cNvSpPr txBox="1"/>
          <p:nvPr/>
        </p:nvSpPr>
        <p:spPr>
          <a:xfrm>
            <a:off x="571500" y="381305"/>
            <a:ext cx="11629339" cy="486461"/>
          </a:xfrm>
          <a:prstGeom prst="rect">
            <a:avLst/>
          </a:prstGeom>
          <a:noFill/>
          <a:ln/>
        </p:spPr>
        <p:txBody>
          <a:bodyPr wrap="square" lIns="0" tIns="0" rIns="0" bIns="0" rtlCol="0" anchor="ctr"/>
          <a:lstStyle/>
          <a:p>
            <a:pPr marL="0" indent="0" algn="l">
              <a:buNone/>
            </a:pPr>
            <a:r>
              <a:rPr lang="en-US" sz="3100" b="1" kern="0" spc="-37" dirty="0">
                <a:solidFill>
                  <a:srgbClr val="0F172A"/>
                </a:solidFill>
                <a:latin typeface="Montserrat" pitchFamily="34" charset="0"/>
                <a:ea typeface="Montserrat" pitchFamily="34" charset="-122"/>
                <a:cs typeface="Montserrat" pitchFamily="34" charset="-120"/>
              </a:rPr>
              <a:t>The Challenge: </a:t>
            </a:r>
            <a:r>
              <a:rPr lang="en-US" sz="3100" b="1" kern="0" spc="-37" dirty="0">
                <a:solidFill>
                  <a:srgbClr val="3B82F6"/>
                </a:solidFill>
                <a:latin typeface="Montserrat" pitchFamily="34" charset="0"/>
                <a:ea typeface="Montserrat" pitchFamily="34" charset="-122"/>
                <a:cs typeface="Montserrat" pitchFamily="34" charset="-120"/>
              </a:rPr>
              <a:t>Extreme Weather Escapes Averages</a:t>
            </a:r>
            <a:endParaRPr lang="en-US" sz="3100" dirty="0"/>
          </a:p>
        </p:txBody>
      </p:sp>
      <p:pic>
        <p:nvPicPr>
          <p:cNvPr id="13" name="Image 2" descr="preencoded.png"/>
          <p:cNvPicPr>
            <a:picLocks noChangeAspect="1"/>
          </p:cNvPicPr>
          <p:nvPr/>
        </p:nvPicPr>
        <p:blipFill>
          <a:blip r:embed="rId5"/>
          <a:srcRect t="-45" b="-45"/>
          <a:stretch/>
        </p:blipFill>
        <p:spPr>
          <a:xfrm>
            <a:off x="2952598" y="1524305"/>
            <a:ext cx="761695" cy="609905"/>
          </a:xfrm>
          <a:prstGeom prst="rect">
            <a:avLst/>
          </a:prstGeom>
        </p:spPr>
      </p:pic>
      <p:sp>
        <p:nvSpPr>
          <p:cNvPr id="14" name="Text 9"/>
          <p:cNvSpPr txBox="1"/>
          <p:nvPr/>
        </p:nvSpPr>
        <p:spPr>
          <a:xfrm>
            <a:off x="895198" y="2381098"/>
            <a:ext cx="4877410" cy="372161"/>
          </a:xfrm>
          <a:prstGeom prst="rect">
            <a:avLst/>
          </a:prstGeom>
          <a:noFill/>
          <a:ln/>
        </p:spPr>
        <p:txBody>
          <a:bodyPr wrap="square" lIns="0" tIns="0" rIns="0" bIns="0" rtlCol="0" anchor="ctr"/>
          <a:lstStyle/>
          <a:p>
            <a:pPr marL="0" indent="0" algn="ctr">
              <a:buNone/>
            </a:pPr>
            <a:r>
              <a:rPr lang="en-US" sz="2400" b="1" dirty="0">
                <a:solidFill>
                  <a:srgbClr val="334155"/>
                </a:solidFill>
                <a:latin typeface="Montserrat" pitchFamily="34" charset="0"/>
                <a:ea typeface="Montserrat" pitchFamily="34" charset="-122"/>
                <a:cs typeface="Montserrat" pitchFamily="34" charset="-120"/>
              </a:rPr>
              <a:t>Gut Feeling &amp; Forecasts</a:t>
            </a:r>
            <a:endParaRPr lang="en-US" sz="2400" dirty="0"/>
          </a:p>
        </p:txBody>
      </p:sp>
      <p:sp>
        <p:nvSpPr>
          <p:cNvPr id="15" name="Text 10"/>
          <p:cNvSpPr txBox="1"/>
          <p:nvPr/>
        </p:nvSpPr>
        <p:spPr>
          <a:xfrm>
            <a:off x="1104595" y="2952598"/>
            <a:ext cx="4457700" cy="857707"/>
          </a:xfrm>
          <a:prstGeom prst="rect">
            <a:avLst/>
          </a:prstGeom>
          <a:noFill/>
          <a:ln/>
        </p:spPr>
        <p:txBody>
          <a:bodyPr wrap="square" lIns="0" tIns="0" rIns="0" bIns="0" rtlCol="0" anchor="ctr"/>
          <a:lstStyle/>
          <a:p>
            <a:pPr marL="0" indent="0" algn="ctr">
              <a:buNone/>
            </a:pPr>
            <a:r>
              <a:rPr lang="en-US" sz="1500" dirty="0">
                <a:solidFill>
                  <a:srgbClr val="475569"/>
                </a:solidFill>
                <a:latin typeface="Open Sans" pitchFamily="34" charset="0"/>
                <a:ea typeface="Open Sans" pitchFamily="34" charset="-122"/>
                <a:cs typeface="Open Sans" pitchFamily="34" charset="-120"/>
              </a:rPr>
              <a:t>Planning for the "average" winter night leaves warming centers unprepared for sudden, severe temperature drops.</a:t>
            </a:r>
            <a:endParaRPr lang="en-US" sz="1500" dirty="0"/>
          </a:p>
        </p:txBody>
      </p:sp>
      <p:pic>
        <p:nvPicPr>
          <p:cNvPr id="16" name="Image 3" descr="preencoded.png"/>
          <p:cNvPicPr>
            <a:picLocks noChangeAspect="1"/>
          </p:cNvPicPr>
          <p:nvPr/>
        </p:nvPicPr>
        <p:blipFill>
          <a:blip r:embed="rId6"/>
          <a:srcRect t="-25" b="-25"/>
          <a:stretch/>
        </p:blipFill>
        <p:spPr>
          <a:xfrm>
            <a:off x="8515807" y="1524305"/>
            <a:ext cx="685800" cy="609905"/>
          </a:xfrm>
          <a:prstGeom prst="rect">
            <a:avLst/>
          </a:prstGeom>
        </p:spPr>
      </p:pic>
      <p:sp>
        <p:nvSpPr>
          <p:cNvPr id="17" name="Text 11"/>
          <p:cNvSpPr txBox="1"/>
          <p:nvPr/>
        </p:nvSpPr>
        <p:spPr>
          <a:xfrm>
            <a:off x="6420002" y="2381098"/>
            <a:ext cx="4877410" cy="372161"/>
          </a:xfrm>
          <a:prstGeom prst="rect">
            <a:avLst/>
          </a:prstGeom>
          <a:noFill/>
          <a:ln/>
        </p:spPr>
        <p:txBody>
          <a:bodyPr wrap="square" lIns="0" tIns="0" rIns="0" bIns="0" rtlCol="0" anchor="ctr"/>
          <a:lstStyle/>
          <a:p>
            <a:pPr marL="0" indent="0" algn="ctr">
              <a:buNone/>
            </a:pPr>
            <a:r>
              <a:rPr lang="en-US" sz="2400" b="1" dirty="0">
                <a:solidFill>
                  <a:srgbClr val="FFFFFF"/>
                </a:solidFill>
                <a:latin typeface="Montserrat" pitchFamily="34" charset="0"/>
                <a:ea typeface="Montserrat" pitchFamily="34" charset="-122"/>
                <a:cs typeface="Montserrat" pitchFamily="34" charset="-120"/>
              </a:rPr>
              <a:t>Sudden -15°C Freeze</a:t>
            </a:r>
            <a:endParaRPr lang="en-US" sz="2400" dirty="0"/>
          </a:p>
        </p:txBody>
      </p:sp>
      <p:sp>
        <p:nvSpPr>
          <p:cNvPr id="18" name="Text 12"/>
          <p:cNvSpPr txBox="1"/>
          <p:nvPr/>
        </p:nvSpPr>
        <p:spPr>
          <a:xfrm>
            <a:off x="6629400" y="2952598"/>
            <a:ext cx="4457700" cy="857707"/>
          </a:xfrm>
          <a:prstGeom prst="rect">
            <a:avLst/>
          </a:prstGeom>
          <a:noFill/>
          <a:ln/>
        </p:spPr>
        <p:txBody>
          <a:bodyPr wrap="square" lIns="0" tIns="0" rIns="0" bIns="0" rtlCol="0" anchor="ctr"/>
          <a:lstStyle/>
          <a:p>
            <a:pPr marL="0" indent="0" algn="ctr">
              <a:buNone/>
            </a:pPr>
            <a:r>
              <a:rPr lang="en-US" sz="1500" dirty="0">
                <a:solidFill>
                  <a:srgbClr val="CBD5E1"/>
                </a:solidFill>
                <a:latin typeface="Open Sans" pitchFamily="34" charset="0"/>
                <a:ea typeface="Open Sans" pitchFamily="34" charset="-122"/>
                <a:cs typeface="Open Sans" pitchFamily="34" charset="-120"/>
              </a:rPr>
              <a:t>Unpredictable demand surges lead to catastrophic turn-aways and massive spikes in emergency room costs.</a:t>
            </a:r>
            <a:endParaRPr lang="en-US" sz="1500" dirty="0"/>
          </a:p>
        </p:txBody>
      </p:sp>
      <p:pic>
        <p:nvPicPr>
          <p:cNvPr id="19" name="Image 4" descr="preencoded.png"/>
          <p:cNvPicPr>
            <a:picLocks noChangeAspect="1"/>
          </p:cNvPicPr>
          <p:nvPr/>
        </p:nvPicPr>
        <p:blipFill>
          <a:blip r:embed="rId7"/>
          <a:srcRect/>
          <a:stretch/>
        </p:blipFill>
        <p:spPr>
          <a:xfrm>
            <a:off x="809244" y="4809744"/>
            <a:ext cx="142646" cy="190195"/>
          </a:xfrm>
          <a:prstGeom prst="rect">
            <a:avLst/>
          </a:prstGeom>
        </p:spPr>
      </p:pic>
      <p:sp>
        <p:nvSpPr>
          <p:cNvPr id="20" name="Text 13"/>
          <p:cNvSpPr txBox="1"/>
          <p:nvPr/>
        </p:nvSpPr>
        <p:spPr>
          <a:xfrm>
            <a:off x="1143000" y="4809744"/>
            <a:ext cx="2774290" cy="181051"/>
          </a:xfrm>
          <a:prstGeom prst="rect">
            <a:avLst/>
          </a:prstGeom>
          <a:noFill/>
          <a:ln/>
        </p:spPr>
        <p:txBody>
          <a:bodyPr wrap="square" lIns="0" tIns="0" rIns="0" bIns="0" rtlCol="0" anchor="ctr"/>
          <a:lstStyle/>
          <a:p>
            <a:pPr marL="0" indent="0" algn="l">
              <a:buNone/>
            </a:pPr>
            <a:r>
              <a:rPr lang="en-US" sz="1200" b="1" kern="0" spc="75" dirty="0">
                <a:solidFill>
                  <a:srgbClr val="64748B"/>
                </a:solidFill>
                <a:latin typeface="Montserrat" pitchFamily="34" charset="0"/>
                <a:ea typeface="Montserrat" pitchFamily="34" charset="-122"/>
                <a:cs typeface="Montserrat" pitchFamily="34" charset="-120"/>
              </a:rPr>
              <a:t>CURRENT STATE</a:t>
            </a:r>
            <a:endParaRPr lang="en-US" sz="1200" dirty="0"/>
          </a:p>
        </p:txBody>
      </p:sp>
      <p:sp>
        <p:nvSpPr>
          <p:cNvPr id="21" name="Text 14"/>
          <p:cNvSpPr txBox="1"/>
          <p:nvPr/>
        </p:nvSpPr>
        <p:spPr>
          <a:xfrm>
            <a:off x="809244" y="5138928"/>
            <a:ext cx="3029407" cy="771754"/>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Manual scheduling based on instinct rather than empirical probability with inflexible transferring.</a:t>
            </a:r>
            <a:endParaRPr lang="en-US" sz="1300" dirty="0"/>
          </a:p>
        </p:txBody>
      </p:sp>
      <p:pic>
        <p:nvPicPr>
          <p:cNvPr id="22" name="Image 5" descr="preencoded.png"/>
          <p:cNvPicPr>
            <a:picLocks noChangeAspect="1"/>
          </p:cNvPicPr>
          <p:nvPr/>
        </p:nvPicPr>
        <p:blipFill>
          <a:blip r:embed="rId8"/>
          <a:srcRect/>
          <a:stretch/>
        </p:blipFill>
        <p:spPr>
          <a:xfrm>
            <a:off x="4619549" y="4809744"/>
            <a:ext cx="190195" cy="190195"/>
          </a:xfrm>
          <a:prstGeom prst="rect">
            <a:avLst/>
          </a:prstGeom>
        </p:spPr>
      </p:pic>
      <p:sp>
        <p:nvSpPr>
          <p:cNvPr id="23" name="Text 15"/>
          <p:cNvSpPr txBox="1"/>
          <p:nvPr/>
        </p:nvSpPr>
        <p:spPr>
          <a:xfrm>
            <a:off x="4953305" y="4809744"/>
            <a:ext cx="2774290" cy="181051"/>
          </a:xfrm>
          <a:prstGeom prst="rect">
            <a:avLst/>
          </a:prstGeom>
          <a:noFill/>
          <a:ln/>
        </p:spPr>
        <p:txBody>
          <a:bodyPr wrap="square" lIns="0" tIns="0" rIns="0" bIns="0" rtlCol="0" anchor="ctr"/>
          <a:lstStyle/>
          <a:p>
            <a:pPr marL="0" indent="0" algn="l">
              <a:buNone/>
            </a:pPr>
            <a:r>
              <a:rPr lang="en-US" sz="1200" b="1" kern="0" spc="75" dirty="0">
                <a:solidFill>
                  <a:srgbClr val="EF4444"/>
                </a:solidFill>
                <a:latin typeface="Montserrat" pitchFamily="34" charset="0"/>
                <a:ea typeface="Montserrat" pitchFamily="34" charset="-122"/>
                <a:cs typeface="Montserrat" pitchFamily="34" charset="-120"/>
              </a:rPr>
              <a:t>THE RISK</a:t>
            </a:r>
            <a:endParaRPr lang="en-US" sz="1200" dirty="0"/>
          </a:p>
        </p:txBody>
      </p:sp>
      <p:sp>
        <p:nvSpPr>
          <p:cNvPr id="24" name="Text 16"/>
          <p:cNvSpPr txBox="1"/>
          <p:nvPr/>
        </p:nvSpPr>
        <p:spPr>
          <a:xfrm>
            <a:off x="4619549" y="5138928"/>
            <a:ext cx="3029407" cy="771754"/>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Unpredictable freezes lead to massive emergency room costs and public crises.</a:t>
            </a:r>
            <a:endParaRPr lang="en-US" sz="1300" dirty="0"/>
          </a:p>
        </p:txBody>
      </p:sp>
      <p:pic>
        <p:nvPicPr>
          <p:cNvPr id="25" name="Image 6" descr="preencoded.png"/>
          <p:cNvPicPr>
            <a:picLocks noChangeAspect="1"/>
          </p:cNvPicPr>
          <p:nvPr/>
        </p:nvPicPr>
        <p:blipFill>
          <a:blip r:embed="rId9"/>
          <a:srcRect/>
          <a:stretch/>
        </p:blipFill>
        <p:spPr>
          <a:xfrm>
            <a:off x="8429854" y="4809744"/>
            <a:ext cx="190195" cy="190195"/>
          </a:xfrm>
          <a:prstGeom prst="rect">
            <a:avLst/>
          </a:prstGeom>
        </p:spPr>
      </p:pic>
      <p:sp>
        <p:nvSpPr>
          <p:cNvPr id="26" name="Text 17"/>
          <p:cNvSpPr txBox="1"/>
          <p:nvPr/>
        </p:nvSpPr>
        <p:spPr>
          <a:xfrm>
            <a:off x="8762695" y="4809744"/>
            <a:ext cx="2774290" cy="181051"/>
          </a:xfrm>
          <a:prstGeom prst="rect">
            <a:avLst/>
          </a:prstGeom>
          <a:noFill/>
          <a:ln/>
        </p:spPr>
        <p:txBody>
          <a:bodyPr wrap="square" lIns="0" tIns="0" rIns="0" bIns="0" rtlCol="0" anchor="ctr"/>
          <a:lstStyle/>
          <a:p>
            <a:pPr marL="0" indent="0" algn="l">
              <a:buNone/>
            </a:pPr>
            <a:r>
              <a:rPr lang="en-US" sz="1200" b="1" kern="0" spc="75" dirty="0">
                <a:solidFill>
                  <a:srgbClr val="10B981"/>
                </a:solidFill>
                <a:latin typeface="Montserrat" pitchFamily="34" charset="0"/>
                <a:ea typeface="Montserrat" pitchFamily="34" charset="-122"/>
                <a:cs typeface="Montserrat" pitchFamily="34" charset="-120"/>
              </a:rPr>
              <a:t>OUR GOAL</a:t>
            </a:r>
            <a:endParaRPr lang="en-US" sz="1200" dirty="0"/>
          </a:p>
        </p:txBody>
      </p:sp>
      <p:sp>
        <p:nvSpPr>
          <p:cNvPr id="27" name="Text 18"/>
          <p:cNvSpPr txBox="1"/>
          <p:nvPr/>
        </p:nvSpPr>
        <p:spPr>
          <a:xfrm>
            <a:off x="8429854" y="5138470"/>
            <a:ext cx="3029407" cy="771754"/>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Maximize social welfare without exceeding the strict $33,000 nightly budget limit by finding optimal staffing level.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4" name="Shape 2"/>
          <p:cNvSpPr/>
          <p:nvPr/>
        </p:nvSpPr>
        <p:spPr>
          <a:xfrm>
            <a:off x="761695" y="1143000"/>
            <a:ext cx="10724998" cy="761695"/>
          </a:xfrm>
          <a:prstGeom prst="roundRect">
            <a:avLst>
              <a:gd name="adj" fmla="val 24010"/>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5" name="Shape 3"/>
          <p:cNvSpPr/>
          <p:nvPr/>
        </p:nvSpPr>
        <p:spPr>
          <a:xfrm>
            <a:off x="761695" y="1143000"/>
            <a:ext cx="57607" cy="761695"/>
          </a:xfrm>
          <a:prstGeom prst="roundRect">
            <a:avLst>
              <a:gd name="adj" fmla="val 317461"/>
            </a:avLst>
          </a:prstGeom>
          <a:solidFill>
            <a:srgbClr val="64748B"/>
          </a:solidFill>
          <a:ln w="12700">
            <a:solidFill>
              <a:srgbClr val="64748B">
                <a:alpha val="0"/>
              </a:srgbClr>
            </a:solidFill>
            <a:prstDash val="solid"/>
          </a:ln>
        </p:spPr>
        <p:txBody>
          <a:bodyPr/>
          <a:lstStyle/>
          <a:p>
            <a:endParaRPr lang="en-US"/>
          </a:p>
        </p:txBody>
      </p:sp>
      <p:sp>
        <p:nvSpPr>
          <p:cNvPr id="6" name="Shape 4"/>
          <p:cNvSpPr/>
          <p:nvPr/>
        </p:nvSpPr>
        <p:spPr>
          <a:xfrm>
            <a:off x="761695" y="2381098"/>
            <a:ext cx="3476549" cy="571500"/>
          </a:xfrm>
          <a:custGeom>
            <a:avLst/>
            <a:gdLst/>
            <a:ahLst/>
            <a:cxnLst/>
            <a:rect l="l" t="t" r="r" b="b"/>
            <a:pathLst>
              <a:path w="3476549" h="571500">
                <a:moveTo>
                  <a:pt x="0" y="0"/>
                </a:moveTo>
                <a:lnTo>
                  <a:pt x="3267956" y="0"/>
                </a:lnTo>
                <a:lnTo>
                  <a:pt x="3476549" y="285750"/>
                </a:lnTo>
                <a:lnTo>
                  <a:pt x="3267956" y="571500"/>
                </a:lnTo>
                <a:lnTo>
                  <a:pt x="0" y="571500"/>
                </a:lnTo>
                <a:close/>
              </a:path>
            </a:pathLst>
          </a:custGeom>
          <a:solidFill>
            <a:srgbClr val="1E293B"/>
          </a:solidFill>
          <a:ln/>
        </p:spPr>
        <p:txBody>
          <a:bodyPr/>
          <a:lstStyle/>
          <a:p>
            <a:endParaRPr lang="en-US"/>
          </a:p>
        </p:txBody>
      </p:sp>
      <p:sp>
        <p:nvSpPr>
          <p:cNvPr id="7" name="Shape 5"/>
          <p:cNvSpPr/>
          <p:nvPr/>
        </p:nvSpPr>
        <p:spPr>
          <a:xfrm>
            <a:off x="4352544" y="2381098"/>
            <a:ext cx="3476549" cy="571500"/>
          </a:xfrm>
          <a:custGeom>
            <a:avLst/>
            <a:gdLst/>
            <a:ahLst/>
            <a:cxnLst/>
            <a:rect l="l" t="t" r="r" b="b"/>
            <a:pathLst>
              <a:path w="3476549" h="571500">
                <a:moveTo>
                  <a:pt x="0" y="0"/>
                </a:moveTo>
                <a:lnTo>
                  <a:pt x="3267956" y="0"/>
                </a:lnTo>
                <a:lnTo>
                  <a:pt x="3476549" y="285750"/>
                </a:lnTo>
                <a:lnTo>
                  <a:pt x="3267956" y="571500"/>
                </a:lnTo>
                <a:lnTo>
                  <a:pt x="0" y="571500"/>
                </a:lnTo>
                <a:lnTo>
                  <a:pt x="208593" y="285750"/>
                </a:lnTo>
                <a:close/>
              </a:path>
            </a:pathLst>
          </a:custGeom>
          <a:solidFill>
            <a:srgbClr val="3B82F6"/>
          </a:solidFill>
          <a:ln/>
        </p:spPr>
        <p:txBody>
          <a:bodyPr/>
          <a:lstStyle/>
          <a:p>
            <a:endParaRPr lang="en-US"/>
          </a:p>
        </p:txBody>
      </p:sp>
      <p:sp>
        <p:nvSpPr>
          <p:cNvPr id="8" name="Shape 6"/>
          <p:cNvSpPr/>
          <p:nvPr/>
        </p:nvSpPr>
        <p:spPr>
          <a:xfrm>
            <a:off x="7953451" y="2381098"/>
            <a:ext cx="3476549" cy="571500"/>
          </a:xfrm>
          <a:custGeom>
            <a:avLst/>
            <a:gdLst/>
            <a:ahLst/>
            <a:cxnLst/>
            <a:rect l="l" t="t" r="r" b="b"/>
            <a:pathLst>
              <a:path w="3476549" h="571500">
                <a:moveTo>
                  <a:pt x="0" y="0"/>
                </a:moveTo>
                <a:lnTo>
                  <a:pt x="3476549" y="0"/>
                </a:lnTo>
                <a:lnTo>
                  <a:pt x="3476549" y="571500"/>
                </a:lnTo>
                <a:lnTo>
                  <a:pt x="0" y="571500"/>
                </a:lnTo>
                <a:lnTo>
                  <a:pt x="208593" y="285750"/>
                </a:lnTo>
                <a:close/>
              </a:path>
            </a:pathLst>
          </a:custGeom>
          <a:solidFill>
            <a:srgbClr val="10B981"/>
          </a:solidFill>
          <a:ln/>
        </p:spPr>
        <p:txBody>
          <a:bodyPr/>
          <a:lstStyle/>
          <a:p>
            <a:endParaRPr lang="en-US"/>
          </a:p>
        </p:txBody>
      </p:sp>
      <p:pic>
        <p:nvPicPr>
          <p:cNvPr id="9" name="Image 0" descr="preencoded.png"/>
          <p:cNvPicPr>
            <a:picLocks noChangeAspect="1"/>
          </p:cNvPicPr>
          <p:nvPr/>
        </p:nvPicPr>
        <p:blipFill>
          <a:blip r:embed="rId3"/>
          <a:srcRect l="-9" r="-9"/>
          <a:stretch/>
        </p:blipFill>
        <p:spPr>
          <a:xfrm>
            <a:off x="761695" y="3143707"/>
            <a:ext cx="3286354" cy="2704795"/>
          </a:xfrm>
          <a:prstGeom prst="rect">
            <a:avLst/>
          </a:prstGeom>
        </p:spPr>
      </p:pic>
      <p:pic>
        <p:nvPicPr>
          <p:cNvPr id="10" name="Image 1" descr="preencoded.png"/>
          <p:cNvPicPr>
            <a:picLocks noChangeAspect="1"/>
          </p:cNvPicPr>
          <p:nvPr/>
        </p:nvPicPr>
        <p:blipFill>
          <a:blip r:embed="rId4"/>
          <a:srcRect l="-9" r="-9"/>
          <a:stretch/>
        </p:blipFill>
        <p:spPr>
          <a:xfrm>
            <a:off x="4448556" y="3143707"/>
            <a:ext cx="3286354" cy="2704795"/>
          </a:xfrm>
          <a:prstGeom prst="rect">
            <a:avLst/>
          </a:prstGeom>
        </p:spPr>
      </p:pic>
      <p:pic>
        <p:nvPicPr>
          <p:cNvPr id="11" name="Image 2" descr="preencoded.png"/>
          <p:cNvPicPr>
            <a:picLocks noChangeAspect="1"/>
          </p:cNvPicPr>
          <p:nvPr/>
        </p:nvPicPr>
        <p:blipFill>
          <a:blip r:embed="rId5"/>
          <a:srcRect l="-9" r="-9"/>
          <a:stretch/>
        </p:blipFill>
        <p:spPr>
          <a:xfrm>
            <a:off x="8143646" y="3143707"/>
            <a:ext cx="3286354" cy="2704795"/>
          </a:xfrm>
          <a:prstGeom prst="rect">
            <a:avLst/>
          </a:prstGeom>
        </p:spPr>
      </p:pic>
      <p:sp>
        <p:nvSpPr>
          <p:cNvPr id="12" name="Text 7"/>
          <p:cNvSpPr txBox="1"/>
          <p:nvPr/>
        </p:nvSpPr>
        <p:spPr>
          <a:xfrm>
            <a:off x="761695" y="381305"/>
            <a:ext cx="11142878" cy="486461"/>
          </a:xfrm>
          <a:prstGeom prst="rect">
            <a:avLst/>
          </a:prstGeom>
          <a:noFill/>
          <a:ln/>
        </p:spPr>
        <p:txBody>
          <a:bodyPr wrap="square" lIns="0" tIns="0" rIns="0" bIns="0" rtlCol="0" anchor="ctr"/>
          <a:lstStyle/>
          <a:p>
            <a:pPr marL="0" indent="0" algn="l">
              <a:buNone/>
            </a:pPr>
            <a:r>
              <a:rPr lang="en-US" sz="3100" b="1" kern="0" spc="-37" dirty="0">
                <a:solidFill>
                  <a:srgbClr val="0F172A"/>
                </a:solidFill>
                <a:latin typeface="Montserrat" pitchFamily="34" charset="0"/>
                <a:ea typeface="Montserrat" pitchFamily="34" charset="-122"/>
                <a:cs typeface="Montserrat" pitchFamily="34" charset="-120"/>
              </a:rPr>
              <a:t>Our Approach: </a:t>
            </a:r>
            <a:r>
              <a:rPr lang="en-US" sz="3100" b="1" kern="0" spc="-37" dirty="0">
                <a:solidFill>
                  <a:srgbClr val="3B82F6"/>
                </a:solidFill>
                <a:latin typeface="Montserrat" pitchFamily="34" charset="0"/>
                <a:ea typeface="Montserrat" pitchFamily="34" charset="-122"/>
                <a:cs typeface="Montserrat" pitchFamily="34" charset="-120"/>
              </a:rPr>
              <a:t>A 3-Stage Data-Driven Framework</a:t>
            </a:r>
            <a:endParaRPr lang="en-US" sz="3100" dirty="0"/>
          </a:p>
        </p:txBody>
      </p:sp>
      <p:pic>
        <p:nvPicPr>
          <p:cNvPr id="13" name="Image 3" descr="preencoded.png"/>
          <p:cNvPicPr>
            <a:picLocks noChangeAspect="1"/>
          </p:cNvPicPr>
          <p:nvPr/>
        </p:nvPicPr>
        <p:blipFill>
          <a:blip r:embed="rId6"/>
          <a:srcRect l="-606" r="-606"/>
          <a:stretch/>
        </p:blipFill>
        <p:spPr>
          <a:xfrm>
            <a:off x="1047902" y="1380744"/>
            <a:ext cx="219456" cy="247802"/>
          </a:xfrm>
          <a:prstGeom prst="rect">
            <a:avLst/>
          </a:prstGeom>
        </p:spPr>
      </p:pic>
      <p:sp>
        <p:nvSpPr>
          <p:cNvPr id="14" name="Text 8"/>
          <p:cNvSpPr txBox="1"/>
          <p:nvPr/>
        </p:nvSpPr>
        <p:spPr>
          <a:xfrm>
            <a:off x="1524305" y="1399946"/>
            <a:ext cx="2179930" cy="210312"/>
          </a:xfrm>
          <a:prstGeom prst="rect">
            <a:avLst/>
          </a:prstGeom>
          <a:noFill/>
          <a:ln/>
        </p:spPr>
        <p:txBody>
          <a:bodyPr wrap="square" lIns="0" tIns="0" rIns="0" bIns="0" rtlCol="0" anchor="ctr"/>
          <a:lstStyle/>
          <a:p>
            <a:pPr marL="0" indent="0" algn="l">
              <a:buNone/>
            </a:pPr>
            <a:r>
              <a:rPr lang="en-US" sz="1300" b="1" kern="0" spc="75" dirty="0">
                <a:solidFill>
                  <a:srgbClr val="334155"/>
                </a:solidFill>
                <a:latin typeface="Montserrat" pitchFamily="34" charset="0"/>
                <a:ea typeface="Montserrat" pitchFamily="34" charset="-122"/>
                <a:cs typeface="Montserrat" pitchFamily="34" charset="-120"/>
              </a:rPr>
              <a:t>DATA FOUNDATION</a:t>
            </a:r>
            <a:endParaRPr lang="en-US" sz="1300" dirty="0"/>
          </a:p>
        </p:txBody>
      </p:sp>
      <p:sp>
        <p:nvSpPr>
          <p:cNvPr id="15" name="Shape 9"/>
          <p:cNvSpPr/>
          <p:nvPr/>
        </p:nvSpPr>
        <p:spPr>
          <a:xfrm>
            <a:off x="3524098" y="1399946"/>
            <a:ext cx="19202" cy="228600"/>
          </a:xfrm>
          <a:prstGeom prst="rect">
            <a:avLst/>
          </a:prstGeom>
          <a:solidFill>
            <a:srgbClr val="E2E8F0"/>
          </a:solidFill>
          <a:ln w="12700">
            <a:solidFill>
              <a:srgbClr val="E2E8F0">
                <a:alpha val="0"/>
              </a:srgbClr>
            </a:solidFill>
            <a:prstDash val="solid"/>
          </a:ln>
        </p:spPr>
        <p:txBody>
          <a:bodyPr/>
          <a:lstStyle/>
          <a:p>
            <a:endParaRPr lang="en-US"/>
          </a:p>
        </p:txBody>
      </p:sp>
      <p:sp>
        <p:nvSpPr>
          <p:cNvPr id="16" name="Text 10"/>
          <p:cNvSpPr txBox="1"/>
          <p:nvPr/>
        </p:nvSpPr>
        <p:spPr>
          <a:xfrm>
            <a:off x="3733495" y="1399946"/>
            <a:ext cx="8097012" cy="22860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1300" b="1" dirty="0">
                <a:solidFill>
                  <a:srgbClr val="475569"/>
                </a:solidFill>
                <a:latin typeface="Open Sans" pitchFamily="34" charset="0"/>
                <a:ea typeface="Open Sans" pitchFamily="34" charset="-122"/>
                <a:cs typeface="Open Sans" pitchFamily="34" charset="-120"/>
              </a:rPr>
              <a:t>Toronto City Open Data (Historical occupancy, weather probabilities, staffing costs)</a:t>
            </a:r>
            <a:endParaRPr lang="en-US" sz="1300" dirty="0"/>
          </a:p>
        </p:txBody>
      </p:sp>
      <p:sp>
        <p:nvSpPr>
          <p:cNvPr id="17" name="Text 11"/>
          <p:cNvSpPr txBox="1"/>
          <p:nvPr/>
        </p:nvSpPr>
        <p:spPr>
          <a:xfrm>
            <a:off x="895198" y="2533802"/>
            <a:ext cx="2971800" cy="228600"/>
          </a:xfrm>
          <a:prstGeom prst="rect">
            <a:avLst/>
          </a:prstGeom>
          <a:noFill/>
          <a:ln/>
        </p:spPr>
        <p:txBody>
          <a:bodyPr wrap="square" lIns="0" tIns="0" rIns="0" bIns="0" rtlCol="0" anchor="ctr"/>
          <a:lstStyle/>
          <a:p>
            <a:pPr marL="0" indent="0" algn="ctr">
              <a:buNone/>
            </a:pPr>
            <a:r>
              <a:rPr lang="en-US" sz="1500" b="1" kern="0" spc="75" dirty="0">
                <a:solidFill>
                  <a:srgbClr val="FFFFFF"/>
                </a:solidFill>
                <a:latin typeface="Montserrat" pitchFamily="34" charset="0"/>
                <a:ea typeface="Montserrat" pitchFamily="34" charset="-122"/>
                <a:cs typeface="Montserrat" pitchFamily="34" charset="-120"/>
              </a:rPr>
              <a:t>STAGE 1: Estimate</a:t>
            </a:r>
            <a:endParaRPr lang="en-US" sz="1500" dirty="0"/>
          </a:p>
        </p:txBody>
      </p:sp>
      <p:sp>
        <p:nvSpPr>
          <p:cNvPr id="18" name="Text 12"/>
          <p:cNvSpPr txBox="1"/>
          <p:nvPr/>
        </p:nvSpPr>
        <p:spPr>
          <a:xfrm>
            <a:off x="4581144" y="2533802"/>
            <a:ext cx="2971800" cy="228600"/>
          </a:xfrm>
          <a:prstGeom prst="rect">
            <a:avLst/>
          </a:prstGeom>
          <a:noFill/>
          <a:ln/>
        </p:spPr>
        <p:txBody>
          <a:bodyPr wrap="square" lIns="0" tIns="0" rIns="0" bIns="0" rtlCol="0" anchor="ctr"/>
          <a:lstStyle/>
          <a:p>
            <a:pPr marL="0" indent="0" algn="ctr">
              <a:buNone/>
            </a:pPr>
            <a:r>
              <a:rPr lang="en-US" sz="1500" b="1" kern="0" spc="75" dirty="0">
                <a:solidFill>
                  <a:srgbClr val="FFFFFF"/>
                </a:solidFill>
                <a:latin typeface="Montserrat" pitchFamily="34" charset="0"/>
                <a:ea typeface="Montserrat" pitchFamily="34" charset="-122"/>
                <a:cs typeface="Montserrat" pitchFamily="34" charset="-120"/>
              </a:rPr>
              <a:t>STAGE 2: Optimize</a:t>
            </a:r>
            <a:endParaRPr lang="en-US" sz="1500" dirty="0"/>
          </a:p>
        </p:txBody>
      </p:sp>
      <p:sp>
        <p:nvSpPr>
          <p:cNvPr id="19" name="Text 13"/>
          <p:cNvSpPr txBox="1"/>
          <p:nvPr/>
        </p:nvSpPr>
        <p:spPr>
          <a:xfrm>
            <a:off x="8182051" y="2533802"/>
            <a:ext cx="2971800" cy="228600"/>
          </a:xfrm>
          <a:prstGeom prst="rect">
            <a:avLst/>
          </a:prstGeom>
          <a:noFill/>
          <a:ln/>
        </p:spPr>
        <p:txBody>
          <a:bodyPr wrap="square" lIns="0" tIns="0" rIns="0" bIns="0" rtlCol="0" anchor="ctr"/>
          <a:lstStyle/>
          <a:p>
            <a:pPr marL="0" indent="0" algn="ctr">
              <a:buNone/>
            </a:pPr>
            <a:r>
              <a:rPr lang="en-US" sz="1500" b="1" kern="0" spc="75" dirty="0">
                <a:solidFill>
                  <a:srgbClr val="FFFFFF"/>
                </a:solidFill>
                <a:latin typeface="Montserrat" pitchFamily="34" charset="0"/>
                <a:ea typeface="Montserrat" pitchFamily="34" charset="-122"/>
                <a:cs typeface="Montserrat" pitchFamily="34" charset="-120"/>
              </a:rPr>
              <a:t>STAGE 3: Stress-Test</a:t>
            </a:r>
            <a:endParaRPr lang="en-US" sz="1500" dirty="0"/>
          </a:p>
        </p:txBody>
      </p:sp>
      <p:pic>
        <p:nvPicPr>
          <p:cNvPr id="20" name="Image 4" descr="preencoded.png"/>
          <p:cNvPicPr>
            <a:picLocks noChangeAspect="1"/>
          </p:cNvPicPr>
          <p:nvPr/>
        </p:nvPicPr>
        <p:blipFill>
          <a:blip r:embed="rId7"/>
          <a:srcRect t="-16" b="-16"/>
          <a:stretch/>
        </p:blipFill>
        <p:spPr>
          <a:xfrm>
            <a:off x="2042770" y="3524098"/>
            <a:ext cx="714146" cy="571500"/>
          </a:xfrm>
          <a:prstGeom prst="rect">
            <a:avLst/>
          </a:prstGeom>
        </p:spPr>
      </p:pic>
      <p:sp>
        <p:nvSpPr>
          <p:cNvPr id="21" name="Text 14"/>
          <p:cNvSpPr txBox="1"/>
          <p:nvPr/>
        </p:nvSpPr>
        <p:spPr>
          <a:xfrm>
            <a:off x="1004926" y="4224528"/>
            <a:ext cx="2800807" cy="962863"/>
          </a:xfrm>
          <a:prstGeom prst="rect">
            <a:avLst/>
          </a:prstGeom>
          <a:noFill/>
          <a:ln/>
        </p:spPr>
        <p:txBody>
          <a:bodyPr wrap="square" lIns="0" tIns="0" rIns="0" bIns="0" rtlCol="0" anchor="ctr"/>
          <a:lstStyle/>
          <a:p>
            <a:pPr marL="0" indent="0" algn="ctr">
              <a:buNone/>
            </a:pPr>
            <a:r>
              <a:rPr lang="en-US" sz="1800" b="1" dirty="0">
                <a:solidFill>
                  <a:srgbClr val="0F172A"/>
                </a:solidFill>
                <a:latin typeface="Montserrat" pitchFamily="34" charset="0"/>
                <a:ea typeface="Montserrat" pitchFamily="34" charset="-122"/>
                <a:cs typeface="Montserrat" pitchFamily="34" charset="-120"/>
              </a:rPr>
              <a:t> Poisson-based</a:t>
            </a:r>
            <a:endParaRPr lang="en-US" sz="1800" dirty="0"/>
          </a:p>
          <a:p>
            <a:pPr marL="0" indent="0" algn="ctr">
              <a:buNone/>
            </a:pPr>
            <a:r>
              <a:rPr lang="en-US" sz="1800" b="1" dirty="0">
                <a:solidFill>
                  <a:srgbClr val="0F172A"/>
                </a:solidFill>
                <a:latin typeface="Montserrat" pitchFamily="34" charset="0"/>
                <a:ea typeface="Montserrat" pitchFamily="34" charset="-122"/>
                <a:cs typeface="Montserrat" pitchFamily="34" charset="-120"/>
              </a:rPr>
              <a:t>Monte Carlo</a:t>
            </a:r>
            <a:endParaRPr lang="en-US" sz="1800" dirty="0"/>
          </a:p>
          <a:p>
            <a:pPr marL="0" indent="0" algn="ctr">
              <a:buNone/>
            </a:pPr>
            <a:r>
              <a:rPr lang="en-US" sz="1800" b="1" dirty="0">
                <a:solidFill>
                  <a:srgbClr val="0F172A"/>
                </a:solidFill>
                <a:latin typeface="Montserrat" pitchFamily="34" charset="0"/>
                <a:ea typeface="Montserrat" pitchFamily="34" charset="-122"/>
                <a:cs typeface="Montserrat" pitchFamily="34" charset="-120"/>
              </a:rPr>
              <a:t>Simulation </a:t>
            </a:r>
            <a:endParaRPr lang="en-US" sz="1800" dirty="0"/>
          </a:p>
        </p:txBody>
      </p:sp>
      <p:sp>
        <p:nvSpPr>
          <p:cNvPr id="22" name="Text 15"/>
          <p:cNvSpPr txBox="1"/>
          <p:nvPr/>
        </p:nvSpPr>
        <p:spPr>
          <a:xfrm>
            <a:off x="1014070" y="5150358"/>
            <a:ext cx="2791663" cy="685800"/>
          </a:xfrm>
          <a:prstGeom prst="rect">
            <a:avLst/>
          </a:prstGeom>
          <a:noFill/>
          <a:ln/>
        </p:spPr>
        <p:txBody>
          <a:bodyPr wrap="square" lIns="0" tIns="0" rIns="0" bIns="0" rtlCol="0" anchor="ctr"/>
          <a:lstStyle/>
          <a:p>
            <a:pPr marL="0" indent="0" algn="ctr">
              <a:buNone/>
            </a:pPr>
            <a:r>
              <a:rPr lang="en-US" sz="1200" dirty="0">
                <a:solidFill>
                  <a:srgbClr val="64748B"/>
                </a:solidFill>
                <a:latin typeface="Open Sans" pitchFamily="34" charset="0"/>
                <a:ea typeface="Open Sans" pitchFamily="34" charset="-122"/>
                <a:cs typeface="Open Sans" pitchFamily="34" charset="-120"/>
              </a:rPr>
              <a:t>Generating average demand for</a:t>
            </a:r>
          </a:p>
          <a:p>
            <a:pPr marL="0" indent="0" algn="ctr">
              <a:buNone/>
            </a:pPr>
            <a:r>
              <a:rPr lang="en-US" sz="1200" dirty="0">
                <a:solidFill>
                  <a:srgbClr val="64748B"/>
                </a:solidFill>
                <a:latin typeface="Open Sans" pitchFamily="34" charset="0"/>
                <a:ea typeface="Open Sans" pitchFamily="34" charset="-122"/>
                <a:cs typeface="Open Sans" pitchFamily="34" charset="-120"/>
              </a:rPr>
              <a:t>warming centers under unexpected</a:t>
            </a:r>
          </a:p>
          <a:p>
            <a:pPr marL="0" indent="0" algn="ctr">
              <a:buNone/>
            </a:pPr>
            <a:r>
              <a:rPr lang="en-US" sz="1200" dirty="0">
                <a:solidFill>
                  <a:srgbClr val="64748B"/>
                </a:solidFill>
                <a:latin typeface="Open Sans" pitchFamily="34" charset="0"/>
                <a:ea typeface="Open Sans" pitchFamily="34" charset="-122"/>
                <a:cs typeface="Open Sans" pitchFamily="34" charset="-120"/>
              </a:rPr>
              <a:t>weather conditions.​</a:t>
            </a:r>
            <a:endParaRPr lang="en-US" sz="1200" dirty="0"/>
          </a:p>
        </p:txBody>
      </p:sp>
      <p:pic>
        <p:nvPicPr>
          <p:cNvPr id="23" name="Image 5" descr="preencoded.png"/>
          <p:cNvPicPr>
            <a:picLocks noChangeAspect="1"/>
          </p:cNvPicPr>
          <p:nvPr/>
        </p:nvPicPr>
        <p:blipFill>
          <a:blip r:embed="rId8"/>
          <a:srcRect t="-16" b="-16"/>
          <a:stretch/>
        </p:blipFill>
        <p:spPr>
          <a:xfrm>
            <a:off x="5738774" y="3524098"/>
            <a:ext cx="714146" cy="571500"/>
          </a:xfrm>
          <a:prstGeom prst="rect">
            <a:avLst/>
          </a:prstGeom>
        </p:spPr>
      </p:pic>
      <p:sp>
        <p:nvSpPr>
          <p:cNvPr id="24" name="Text 16"/>
          <p:cNvSpPr txBox="1"/>
          <p:nvPr/>
        </p:nvSpPr>
        <p:spPr>
          <a:xfrm>
            <a:off x="4695444" y="4232638"/>
            <a:ext cx="2800807" cy="648310"/>
          </a:xfrm>
          <a:prstGeom prst="rect">
            <a:avLst/>
          </a:prstGeom>
          <a:noFill/>
          <a:ln/>
        </p:spPr>
        <p:txBody>
          <a:bodyPr wrap="square" lIns="0" tIns="0" rIns="0" bIns="0" rtlCol="0" anchor="ctr"/>
          <a:lstStyle/>
          <a:p>
            <a:pPr marL="0" indent="0" algn="ctr">
              <a:buNone/>
            </a:pPr>
            <a:r>
              <a:rPr lang="en-US" sz="1800" b="1" dirty="0">
                <a:solidFill>
                  <a:srgbClr val="0F172A"/>
                </a:solidFill>
                <a:latin typeface="Montserrat" pitchFamily="34" charset="0"/>
                <a:ea typeface="Montserrat" pitchFamily="34" charset="-122"/>
                <a:cs typeface="Montserrat" pitchFamily="34" charset="-120"/>
              </a:rPr>
              <a:t> Mixed Integer Linear</a:t>
            </a:r>
            <a:endParaRPr lang="en-US" sz="1800" dirty="0"/>
          </a:p>
          <a:p>
            <a:pPr marL="0" indent="0" algn="ctr">
              <a:buNone/>
            </a:pPr>
            <a:r>
              <a:rPr lang="en-US" sz="1800" b="1" dirty="0">
                <a:solidFill>
                  <a:srgbClr val="0F172A"/>
                </a:solidFill>
                <a:latin typeface="Montserrat" pitchFamily="34" charset="0"/>
                <a:ea typeface="Montserrat" pitchFamily="34" charset="-122"/>
                <a:cs typeface="Montserrat" pitchFamily="34" charset="-120"/>
              </a:rPr>
              <a:t>Programming (MILP) </a:t>
            </a:r>
            <a:endParaRPr lang="en-US" sz="1800" dirty="0"/>
          </a:p>
        </p:txBody>
      </p:sp>
      <p:sp>
        <p:nvSpPr>
          <p:cNvPr id="25" name="Text 17"/>
          <p:cNvSpPr txBox="1"/>
          <p:nvPr/>
        </p:nvSpPr>
        <p:spPr>
          <a:xfrm>
            <a:off x="4695444" y="5188233"/>
            <a:ext cx="2791663" cy="685800"/>
          </a:xfrm>
          <a:prstGeom prst="rect">
            <a:avLst/>
          </a:prstGeom>
          <a:noFill/>
          <a:ln/>
        </p:spPr>
        <p:txBody>
          <a:bodyPr wrap="square" lIns="0" tIns="0" rIns="0" bIns="0" rtlCol="0" anchor="ctr"/>
          <a:lstStyle/>
          <a:p>
            <a:pPr marL="0" indent="0" algn="ctr">
              <a:buNone/>
            </a:pPr>
            <a:r>
              <a:rPr lang="en-US" sz="1200" dirty="0">
                <a:solidFill>
                  <a:srgbClr val="64748B"/>
                </a:solidFill>
                <a:latin typeface="Open Sans" pitchFamily="34" charset="0"/>
                <a:ea typeface="Open Sans" pitchFamily="34" charset="-122"/>
                <a:cs typeface="Open Sans" pitchFamily="34" charset="-120"/>
              </a:rPr>
              <a:t>Algorithmic optimization to balance budget constraints and human welfare.</a:t>
            </a:r>
            <a:endParaRPr lang="en-US" sz="1200" dirty="0"/>
          </a:p>
        </p:txBody>
      </p:sp>
      <p:pic>
        <p:nvPicPr>
          <p:cNvPr id="26" name="Image 6" descr="preencoded.png"/>
          <p:cNvPicPr>
            <a:picLocks noChangeAspect="1"/>
          </p:cNvPicPr>
          <p:nvPr/>
        </p:nvPicPr>
        <p:blipFill>
          <a:blip r:embed="rId9"/>
          <a:srcRect l="-469" r="-469"/>
          <a:stretch/>
        </p:blipFill>
        <p:spPr>
          <a:xfrm>
            <a:off x="9539021" y="3524098"/>
            <a:ext cx="504749" cy="571500"/>
          </a:xfrm>
          <a:prstGeom prst="rect">
            <a:avLst/>
          </a:prstGeom>
        </p:spPr>
      </p:pic>
      <p:sp>
        <p:nvSpPr>
          <p:cNvPr id="27" name="Text 18"/>
          <p:cNvSpPr txBox="1"/>
          <p:nvPr/>
        </p:nvSpPr>
        <p:spPr>
          <a:xfrm>
            <a:off x="8371332" y="4232638"/>
            <a:ext cx="2800807" cy="648310"/>
          </a:xfrm>
          <a:prstGeom prst="rect">
            <a:avLst/>
          </a:prstGeom>
          <a:noFill/>
          <a:ln/>
        </p:spPr>
        <p:txBody>
          <a:bodyPr wrap="square" lIns="0" tIns="0" rIns="0" bIns="0" rtlCol="0" anchor="ctr"/>
          <a:lstStyle/>
          <a:p>
            <a:pPr marL="0" indent="0" algn="ctr">
              <a:buNone/>
            </a:pPr>
            <a:r>
              <a:rPr lang="en-US" sz="1800" b="1" dirty="0">
                <a:solidFill>
                  <a:srgbClr val="0F172A"/>
                </a:solidFill>
                <a:latin typeface="Montserrat" pitchFamily="34" charset="0"/>
                <a:ea typeface="Montserrat" pitchFamily="34" charset="-122"/>
                <a:cs typeface="Montserrat" pitchFamily="34" charset="-120"/>
              </a:rPr>
              <a:t> Real-World</a:t>
            </a:r>
            <a:endParaRPr lang="en-US" sz="1800" dirty="0"/>
          </a:p>
          <a:p>
            <a:pPr marL="0" indent="0" algn="ctr">
              <a:buNone/>
            </a:pPr>
            <a:r>
              <a:rPr lang="en-US" sz="1800" b="1" dirty="0">
                <a:solidFill>
                  <a:srgbClr val="0F172A"/>
                </a:solidFill>
                <a:latin typeface="Montserrat" pitchFamily="34" charset="0"/>
                <a:ea typeface="Montserrat" pitchFamily="34" charset="-122"/>
                <a:cs typeface="Montserrat" pitchFamily="34" charset="-120"/>
              </a:rPr>
              <a:t>Stress Testing </a:t>
            </a:r>
            <a:endParaRPr lang="en-US" sz="1800" dirty="0"/>
          </a:p>
        </p:txBody>
      </p:sp>
      <p:sp>
        <p:nvSpPr>
          <p:cNvPr id="28" name="Text 19"/>
          <p:cNvSpPr txBox="1"/>
          <p:nvPr/>
        </p:nvSpPr>
        <p:spPr>
          <a:xfrm>
            <a:off x="8397128" y="5188233"/>
            <a:ext cx="2791663" cy="457200"/>
          </a:xfrm>
          <a:prstGeom prst="rect">
            <a:avLst/>
          </a:prstGeom>
          <a:noFill/>
          <a:ln/>
        </p:spPr>
        <p:txBody>
          <a:bodyPr wrap="square" lIns="0" tIns="0" rIns="0" bIns="0" rtlCol="0" anchor="ctr"/>
          <a:lstStyle/>
          <a:p>
            <a:pPr marL="0" indent="0" algn="ctr">
              <a:buNone/>
            </a:pPr>
            <a:r>
              <a:rPr lang="en-US" sz="1200" dirty="0">
                <a:solidFill>
                  <a:srgbClr val="64748B"/>
                </a:solidFill>
                <a:latin typeface="Open Sans" pitchFamily="34" charset="0"/>
                <a:ea typeface="Open Sans" pitchFamily="34" charset="-122"/>
                <a:cs typeface="Open Sans" pitchFamily="34" charset="-120"/>
              </a:rPr>
              <a:t>Validating the optimized schedule</a:t>
            </a:r>
          </a:p>
          <a:p>
            <a:pPr marL="0" indent="0" algn="ctr">
              <a:buNone/>
            </a:pPr>
            <a:r>
              <a:rPr lang="en-US" sz="1200" dirty="0">
                <a:solidFill>
                  <a:srgbClr val="64748B"/>
                </a:solidFill>
                <a:latin typeface="Open Sans" pitchFamily="34" charset="0"/>
                <a:ea typeface="Open Sans" pitchFamily="34" charset="-122"/>
                <a:cs typeface="Open Sans" pitchFamily="34" charset="-120"/>
              </a:rPr>
              <a:t>against unpredictable dynamic nightly</a:t>
            </a:r>
          </a:p>
          <a:p>
            <a:pPr marL="0" indent="0" algn="ctr">
              <a:buNone/>
            </a:pPr>
            <a:r>
              <a:rPr lang="en-US" sz="1200" dirty="0">
                <a:solidFill>
                  <a:srgbClr val="64748B"/>
                </a:solidFill>
                <a:latin typeface="Open Sans" pitchFamily="34" charset="0"/>
                <a:ea typeface="Open Sans" pitchFamily="34" charset="-122"/>
                <a:cs typeface="Open Sans" pitchFamily="34" charset="-120"/>
              </a:rPr>
              <a:t>demand.​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4" name="Shape 2"/>
          <p:cNvSpPr/>
          <p:nvPr/>
        </p:nvSpPr>
        <p:spPr>
          <a:xfrm>
            <a:off x="571500" y="1429207"/>
            <a:ext cx="7048195" cy="4914900"/>
          </a:xfrm>
          <a:prstGeom prst="roundRect">
            <a:avLst>
              <a:gd name="adj" fmla="val 577"/>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5" name="Shape 3"/>
          <p:cNvSpPr/>
          <p:nvPr/>
        </p:nvSpPr>
        <p:spPr>
          <a:xfrm>
            <a:off x="571500" y="1429207"/>
            <a:ext cx="7048195" cy="57607"/>
          </a:xfrm>
          <a:prstGeom prst="roundRect">
            <a:avLst>
              <a:gd name="adj" fmla="val 49219"/>
            </a:avLst>
          </a:prstGeom>
          <a:solidFill>
            <a:srgbClr val="3B82F6"/>
          </a:solidFill>
          <a:ln w="12700">
            <a:solidFill>
              <a:srgbClr val="3B82F6">
                <a:alpha val="0"/>
              </a:srgbClr>
            </a:solidFill>
            <a:prstDash val="solid"/>
          </a:ln>
        </p:spPr>
        <p:txBody>
          <a:bodyPr/>
          <a:lstStyle/>
          <a:p>
            <a:endParaRPr lang="en-US"/>
          </a:p>
        </p:txBody>
      </p:sp>
      <p:sp>
        <p:nvSpPr>
          <p:cNvPr id="6" name="Shape 4"/>
          <p:cNvSpPr/>
          <p:nvPr/>
        </p:nvSpPr>
        <p:spPr>
          <a:xfrm>
            <a:off x="7905902" y="1429207"/>
            <a:ext cx="3715207" cy="4914900"/>
          </a:xfrm>
          <a:prstGeom prst="roundRect">
            <a:avLst>
              <a:gd name="adj" fmla="val 1010"/>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7905902" y="1429207"/>
            <a:ext cx="3715207" cy="57607"/>
          </a:xfrm>
          <a:prstGeom prst="roundRect">
            <a:avLst>
              <a:gd name="adj" fmla="val 65120"/>
            </a:avLst>
          </a:prstGeom>
          <a:solidFill>
            <a:srgbClr val="1E293B"/>
          </a:solidFill>
          <a:ln w="12700">
            <a:solidFill>
              <a:srgbClr val="1E293B">
                <a:alpha val="0"/>
              </a:srgbClr>
            </a:solidFill>
            <a:prstDash val="solid"/>
          </a:ln>
        </p:spPr>
        <p:txBody>
          <a:bodyPr/>
          <a:lstStyle/>
          <a:p>
            <a:endParaRPr lang="en-US"/>
          </a:p>
        </p:txBody>
      </p:sp>
      <p:pic>
        <p:nvPicPr>
          <p:cNvPr id="8" name="Image 0" descr="preencoded.png"/>
          <p:cNvPicPr>
            <a:picLocks noChangeAspect="1"/>
          </p:cNvPicPr>
          <p:nvPr/>
        </p:nvPicPr>
        <p:blipFill>
          <a:blip r:embed="rId3"/>
          <a:srcRect t="-393" b="-393"/>
          <a:stretch/>
        </p:blipFill>
        <p:spPr>
          <a:xfrm>
            <a:off x="8191195" y="2095805"/>
            <a:ext cx="3143707" cy="19202"/>
          </a:xfrm>
          <a:prstGeom prst="rect">
            <a:avLst/>
          </a:prstGeom>
        </p:spPr>
      </p:pic>
      <p:sp>
        <p:nvSpPr>
          <p:cNvPr id="9" name="Text 6"/>
          <p:cNvSpPr txBox="1"/>
          <p:nvPr/>
        </p:nvSpPr>
        <p:spPr>
          <a:xfrm>
            <a:off x="571500" y="381305"/>
            <a:ext cx="11199571" cy="962863"/>
          </a:xfrm>
          <a:prstGeom prst="rect">
            <a:avLst/>
          </a:prstGeom>
          <a:noFill/>
          <a:ln/>
        </p:spPr>
        <p:txBody>
          <a:bodyPr wrap="square" lIns="0" tIns="0" rIns="0" bIns="0" rtlCol="0" anchor="ctr"/>
          <a:lstStyle/>
          <a:p>
            <a:pPr marL="0" indent="0" algn="l">
              <a:buNone/>
            </a:pPr>
            <a:r>
              <a:rPr lang="en-US" sz="2800" b="1" kern="0" spc="-37" dirty="0">
                <a:solidFill>
                  <a:srgbClr val="0F172A"/>
                </a:solidFill>
                <a:latin typeface="Montserrat" pitchFamily="34" charset="0"/>
                <a:ea typeface="Montserrat" pitchFamily="34" charset="-122"/>
                <a:cs typeface="Montserrat" pitchFamily="34" charset="-120"/>
              </a:rPr>
              <a:t>Stage 1: </a:t>
            </a:r>
            <a:r>
              <a:rPr lang="en-US" sz="3000" b="1" kern="0" spc="-37" dirty="0">
                <a:solidFill>
                  <a:srgbClr val="3B82F6"/>
                </a:solidFill>
                <a:latin typeface="Montserrat" pitchFamily="34" charset="0"/>
                <a:ea typeface="Montserrat" pitchFamily="34" charset="-122"/>
                <a:cs typeface="Montserrat" pitchFamily="34" charset="-120"/>
              </a:rPr>
              <a:t>Capturing</a:t>
            </a:r>
            <a:r>
              <a:rPr lang="en-US" sz="2800" b="1" kern="0" spc="-37" dirty="0">
                <a:solidFill>
                  <a:srgbClr val="3B82F6"/>
                </a:solidFill>
                <a:latin typeface="Montserrat" pitchFamily="34" charset="0"/>
                <a:ea typeface="Montserrat" pitchFamily="34" charset="-122"/>
                <a:cs typeface="Montserrat" pitchFamily="34" charset="-120"/>
              </a:rPr>
              <a:t> the Unpredictability of Human Traffic</a:t>
            </a:r>
            <a:endParaRPr lang="en-US" sz="2800" dirty="0"/>
          </a:p>
        </p:txBody>
      </p:sp>
      <p:sp>
        <p:nvSpPr>
          <p:cNvPr id="11" name="Text 7"/>
          <p:cNvSpPr txBox="1"/>
          <p:nvPr/>
        </p:nvSpPr>
        <p:spPr>
          <a:xfrm>
            <a:off x="8191195" y="1714500"/>
            <a:ext cx="3258007" cy="257861"/>
          </a:xfrm>
          <a:prstGeom prst="rect">
            <a:avLst/>
          </a:prstGeom>
          <a:noFill/>
          <a:ln/>
        </p:spPr>
        <p:txBody>
          <a:bodyPr wrap="square" lIns="0" tIns="0" rIns="0" bIns="0" rtlCol="0" anchor="ctr"/>
          <a:lstStyle/>
          <a:p>
            <a:pPr marL="0" indent="0" algn="l">
              <a:buNone/>
            </a:pPr>
            <a:r>
              <a:rPr lang="en-US" sz="1600" b="1" kern="0" spc="38" dirty="0">
                <a:solidFill>
                  <a:srgbClr val="0F172A"/>
                </a:solidFill>
                <a:latin typeface="Montserrat" pitchFamily="34" charset="0"/>
                <a:ea typeface="Montserrat" pitchFamily="34" charset="-122"/>
                <a:cs typeface="Montserrat" pitchFamily="34" charset="-120"/>
              </a:rPr>
              <a:t>Simulation Parameters</a:t>
            </a:r>
            <a:endParaRPr lang="en-US" sz="1600" dirty="0"/>
          </a:p>
        </p:txBody>
      </p:sp>
      <p:pic>
        <p:nvPicPr>
          <p:cNvPr id="12" name="Image 2" descr="preencoded.png"/>
          <p:cNvPicPr>
            <a:picLocks noChangeAspect="1"/>
          </p:cNvPicPr>
          <p:nvPr/>
        </p:nvPicPr>
        <p:blipFill>
          <a:blip r:embed="rId4"/>
          <a:srcRect/>
          <a:stretch/>
        </p:blipFill>
        <p:spPr>
          <a:xfrm>
            <a:off x="8229600" y="2381098"/>
            <a:ext cx="228600" cy="228600"/>
          </a:xfrm>
          <a:prstGeom prst="rect">
            <a:avLst/>
          </a:prstGeom>
        </p:spPr>
      </p:pic>
      <p:sp>
        <p:nvSpPr>
          <p:cNvPr id="13" name="Text 8"/>
          <p:cNvSpPr txBox="1"/>
          <p:nvPr/>
        </p:nvSpPr>
        <p:spPr>
          <a:xfrm>
            <a:off x="8667598" y="2343607"/>
            <a:ext cx="3173882" cy="257861"/>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1,000 Monte Carlo Simulations</a:t>
            </a:r>
            <a:endParaRPr lang="en-US" sz="1300" dirty="0"/>
          </a:p>
        </p:txBody>
      </p:sp>
      <p:sp>
        <p:nvSpPr>
          <p:cNvPr id="14" name="Text 9"/>
          <p:cNvSpPr txBox="1"/>
          <p:nvPr/>
        </p:nvSpPr>
        <p:spPr>
          <a:xfrm>
            <a:off x="8667598" y="2638044"/>
            <a:ext cx="2743200" cy="685800"/>
          </a:xfrm>
          <a:prstGeom prst="rect">
            <a:avLst/>
          </a:prstGeom>
          <a:noFill/>
          <a:ln/>
        </p:spPr>
        <p:txBody>
          <a:bodyPr wrap="square" lIns="0" tIns="0" rIns="0" bIns="0" rtlCol="0" anchor="ctr"/>
          <a:lstStyle/>
          <a:p>
            <a:pPr marL="0" indent="0" algn="l">
              <a:buNone/>
            </a:pPr>
            <a:r>
              <a:rPr lang="en-US" sz="1200" dirty="0">
                <a:solidFill>
                  <a:srgbClr val="64748B"/>
                </a:solidFill>
                <a:latin typeface="Open Sans" pitchFamily="34" charset="0"/>
                <a:ea typeface="Open Sans" pitchFamily="34" charset="-122"/>
                <a:cs typeface="Open Sans" pitchFamily="34" charset="-120"/>
              </a:rPr>
              <a:t>Using Poisson distributions to model</a:t>
            </a:r>
          </a:p>
          <a:p>
            <a:pPr marL="0" indent="0" algn="l">
              <a:buNone/>
            </a:pPr>
            <a:r>
              <a:rPr lang="en-US" sz="1200" dirty="0">
                <a:solidFill>
                  <a:srgbClr val="64748B"/>
                </a:solidFill>
                <a:latin typeface="Open Sans" pitchFamily="34" charset="0"/>
                <a:ea typeface="Open Sans" pitchFamily="34" charset="-122"/>
                <a:cs typeface="Open Sans" pitchFamily="34" charset="-120"/>
              </a:rPr>
              <a:t>highly volatile, unpredictable nightly</a:t>
            </a:r>
          </a:p>
          <a:p>
            <a:pPr marL="0" indent="0" algn="l">
              <a:buNone/>
            </a:pPr>
            <a:r>
              <a:rPr lang="en-US" sz="1200" dirty="0">
                <a:solidFill>
                  <a:srgbClr val="64748B"/>
                </a:solidFill>
                <a:latin typeface="Open Sans" pitchFamily="34" charset="0"/>
                <a:ea typeface="Open Sans" pitchFamily="34" charset="-122"/>
                <a:cs typeface="Open Sans" pitchFamily="34" charset="-120"/>
              </a:rPr>
              <a:t>arrival demand .​</a:t>
            </a:r>
            <a:endParaRPr lang="en-US" sz="1200" dirty="0"/>
          </a:p>
        </p:txBody>
      </p:sp>
      <p:pic>
        <p:nvPicPr>
          <p:cNvPr id="15" name="Image 3" descr="preencoded.png"/>
          <p:cNvPicPr>
            <a:picLocks noChangeAspect="1"/>
          </p:cNvPicPr>
          <p:nvPr/>
        </p:nvPicPr>
        <p:blipFill>
          <a:blip r:embed="rId5"/>
          <a:srcRect t="-45" b="-45"/>
          <a:stretch/>
        </p:blipFill>
        <p:spPr>
          <a:xfrm>
            <a:off x="8214970" y="3429000"/>
            <a:ext cx="256946" cy="228600"/>
          </a:xfrm>
          <a:prstGeom prst="rect">
            <a:avLst/>
          </a:prstGeom>
        </p:spPr>
      </p:pic>
      <p:sp>
        <p:nvSpPr>
          <p:cNvPr id="16" name="Text 10"/>
          <p:cNvSpPr txBox="1"/>
          <p:nvPr/>
        </p:nvSpPr>
        <p:spPr>
          <a:xfrm>
            <a:off x="8667598" y="3390595"/>
            <a:ext cx="2774290" cy="257861"/>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Two Distinct Scenarios</a:t>
            </a:r>
            <a:endParaRPr lang="en-US" sz="1300" dirty="0"/>
          </a:p>
        </p:txBody>
      </p:sp>
      <p:sp>
        <p:nvSpPr>
          <p:cNvPr id="17" name="Text 11"/>
          <p:cNvSpPr txBox="1"/>
          <p:nvPr/>
        </p:nvSpPr>
        <p:spPr>
          <a:xfrm>
            <a:off x="8667598" y="3685946"/>
            <a:ext cx="2743200" cy="685800"/>
          </a:xfrm>
          <a:prstGeom prst="rect">
            <a:avLst/>
          </a:prstGeom>
          <a:noFill/>
          <a:ln/>
        </p:spPr>
        <p:txBody>
          <a:bodyPr wrap="square" lIns="0" tIns="0" rIns="0" bIns="0" rtlCol="0" anchor="ctr"/>
          <a:lstStyle/>
          <a:p>
            <a:pPr marL="0" indent="0" algn="l">
              <a:buNone/>
            </a:pPr>
            <a:r>
              <a:rPr lang="en-US" sz="1200" dirty="0">
                <a:solidFill>
                  <a:srgbClr val="64748B"/>
                </a:solidFill>
                <a:latin typeface="Open Sans" pitchFamily="34" charset="0"/>
                <a:ea typeface="Open Sans" pitchFamily="34" charset="-122"/>
                <a:cs typeface="Open Sans" pitchFamily="34" charset="-120"/>
              </a:rPr>
              <a:t>Comparing Moderate (-5°C) baselines against Extreme (-15°C) catastrophic freezes.</a:t>
            </a:r>
            <a:endParaRPr lang="en-US" sz="1200" dirty="0"/>
          </a:p>
        </p:txBody>
      </p:sp>
      <p:pic>
        <p:nvPicPr>
          <p:cNvPr id="18" name="Image 4" descr="preencoded.png"/>
          <p:cNvPicPr>
            <a:picLocks noChangeAspect="1"/>
          </p:cNvPicPr>
          <p:nvPr/>
        </p:nvPicPr>
        <p:blipFill>
          <a:blip r:embed="rId6"/>
          <a:srcRect t="-45" b="-45"/>
          <a:stretch/>
        </p:blipFill>
        <p:spPr>
          <a:xfrm>
            <a:off x="8214970" y="4476902"/>
            <a:ext cx="256946" cy="228600"/>
          </a:xfrm>
          <a:prstGeom prst="rect">
            <a:avLst/>
          </a:prstGeom>
        </p:spPr>
      </p:pic>
      <p:sp>
        <p:nvSpPr>
          <p:cNvPr id="19" name="Text 12"/>
          <p:cNvSpPr txBox="1"/>
          <p:nvPr/>
        </p:nvSpPr>
        <p:spPr>
          <a:xfrm>
            <a:off x="8667598" y="4438498"/>
            <a:ext cx="2774290" cy="257861"/>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Strict Business Rules</a:t>
            </a:r>
            <a:endParaRPr lang="en-US" sz="1300" dirty="0"/>
          </a:p>
        </p:txBody>
      </p:sp>
      <p:sp>
        <p:nvSpPr>
          <p:cNvPr id="20" name="Text 13"/>
          <p:cNvSpPr txBox="1"/>
          <p:nvPr/>
        </p:nvSpPr>
        <p:spPr>
          <a:xfrm>
            <a:off x="8667598" y="4733849"/>
            <a:ext cx="2743200" cy="685800"/>
          </a:xfrm>
          <a:prstGeom prst="rect">
            <a:avLst/>
          </a:prstGeom>
          <a:noFill/>
          <a:ln/>
        </p:spPr>
        <p:txBody>
          <a:bodyPr wrap="square" lIns="0" tIns="0" rIns="0" bIns="0" rtlCol="0" anchor="ctr"/>
          <a:lstStyle/>
          <a:p>
            <a:r>
              <a:rPr lang="en-US" sz="1200" dirty="0">
                <a:solidFill>
                  <a:srgbClr val="64748B"/>
                </a:solidFill>
                <a:latin typeface="Open Sans" pitchFamily="34" charset="0"/>
                <a:ea typeface="Open Sans" pitchFamily="34" charset="-122"/>
                <a:cs typeface="Open Sans" pitchFamily="34" charset="-120"/>
              </a:rPr>
              <a:t>Cecil &amp; Jimmie centers remain closed unless extreme freezes trigger at </a:t>
            </a:r>
          </a:p>
          <a:p>
            <a:r>
              <a:rPr lang="en-US" sz="1200" dirty="0">
                <a:solidFill>
                  <a:srgbClr val="64748B"/>
                </a:solidFill>
                <a:latin typeface="Open Sans" pitchFamily="34" charset="0"/>
                <a:ea typeface="Open Sans" pitchFamily="34" charset="-122"/>
                <a:cs typeface="Open Sans" pitchFamily="34" charset="-120"/>
              </a:rPr>
              <a:t>-15°C.</a:t>
            </a:r>
            <a:endParaRPr lang="en-US" sz="1200" dirty="0"/>
          </a:p>
        </p:txBody>
      </p:sp>
      <p:pic>
        <p:nvPicPr>
          <p:cNvPr id="24" name="Picture 23">
            <a:extLst>
              <a:ext uri="{FF2B5EF4-FFF2-40B4-BE49-F238E27FC236}">
                <a16:creationId xmlns:a16="http://schemas.microsoft.com/office/drawing/2014/main" id="{CA389E48-9835-E4F4-347A-7055DF4CAE4F}"/>
              </a:ext>
            </a:extLst>
          </p:cNvPr>
          <p:cNvPicPr>
            <a:picLocks noChangeAspect="1"/>
          </p:cNvPicPr>
          <p:nvPr/>
        </p:nvPicPr>
        <p:blipFill>
          <a:blip r:embed="rId7"/>
          <a:stretch>
            <a:fillRect/>
          </a:stretch>
        </p:blipFill>
        <p:spPr>
          <a:xfrm>
            <a:off x="708056" y="2035815"/>
            <a:ext cx="6847631" cy="3473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3" name="Shape 1"/>
          <p:cNvSpPr/>
          <p:nvPr/>
        </p:nvSpPr>
        <p:spPr>
          <a:xfrm>
            <a:off x="305" y="-9144"/>
            <a:ext cx="12191695" cy="6858000"/>
          </a:xfrm>
          <a:prstGeom prst="rect">
            <a:avLst/>
          </a:prstGeom>
          <a:solidFill>
            <a:srgbClr val="F8FAFC"/>
          </a:solidFill>
          <a:ln w="12700">
            <a:solidFill>
              <a:srgbClr val="FFFFFF">
                <a:alpha val="0"/>
              </a:srgbClr>
            </a:solidFill>
            <a:prstDash val="solid"/>
          </a:ln>
        </p:spPr>
        <p:txBody>
          <a:bodyPr/>
          <a:lstStyle/>
          <a:p>
            <a:endParaRPr lang="en-US" dirty="0"/>
          </a:p>
        </p:txBody>
      </p:sp>
      <p:pic>
        <p:nvPicPr>
          <p:cNvPr id="4" name="Image 0" descr="preencoded.png"/>
          <p:cNvPicPr>
            <a:picLocks noChangeAspect="1"/>
          </p:cNvPicPr>
          <p:nvPr/>
        </p:nvPicPr>
        <p:blipFill>
          <a:blip r:embed="rId3"/>
          <a:srcRect t="-5" b="-5"/>
          <a:stretch/>
        </p:blipFill>
        <p:spPr>
          <a:xfrm>
            <a:off x="571499" y="1333195"/>
            <a:ext cx="4190695" cy="4819802"/>
          </a:xfrm>
          <a:prstGeom prst="rect">
            <a:avLst/>
          </a:prstGeom>
        </p:spPr>
      </p:pic>
      <p:pic>
        <p:nvPicPr>
          <p:cNvPr id="5" name="Image 1" descr="preencoded.png"/>
          <p:cNvPicPr>
            <a:picLocks noChangeAspect="1"/>
          </p:cNvPicPr>
          <p:nvPr/>
        </p:nvPicPr>
        <p:blipFill>
          <a:blip r:embed="rId4"/>
          <a:srcRect t="-400" b="-400"/>
          <a:stretch/>
        </p:blipFill>
        <p:spPr>
          <a:xfrm>
            <a:off x="1238098" y="2000707"/>
            <a:ext cx="2857500" cy="19202"/>
          </a:xfrm>
          <a:prstGeom prst="rect">
            <a:avLst/>
          </a:prstGeom>
        </p:spPr>
      </p:pic>
      <p:sp>
        <p:nvSpPr>
          <p:cNvPr id="6" name="Shape 2"/>
          <p:cNvSpPr/>
          <p:nvPr/>
        </p:nvSpPr>
        <p:spPr>
          <a:xfrm>
            <a:off x="5143500" y="1333195"/>
            <a:ext cx="6534302" cy="1333195"/>
          </a:xfrm>
          <a:prstGeom prst="roundRect">
            <a:avLst>
              <a:gd name="adj" fmla="val 7839"/>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7" name="Shape 3"/>
          <p:cNvSpPr/>
          <p:nvPr/>
        </p:nvSpPr>
        <p:spPr>
          <a:xfrm>
            <a:off x="5143500" y="1333195"/>
            <a:ext cx="57607" cy="1333195"/>
          </a:xfrm>
          <a:prstGeom prst="roundRect">
            <a:avLst>
              <a:gd name="adj" fmla="val 181407"/>
            </a:avLst>
          </a:prstGeom>
          <a:solidFill>
            <a:srgbClr val="10B981"/>
          </a:solidFill>
          <a:ln w="12700">
            <a:solidFill>
              <a:srgbClr val="10B981">
                <a:alpha val="0"/>
              </a:srgbClr>
            </a:solidFill>
            <a:prstDash val="solid"/>
          </a:ln>
        </p:spPr>
        <p:txBody>
          <a:bodyPr/>
          <a:lstStyle/>
          <a:p>
            <a:endParaRPr lang="en-US"/>
          </a:p>
        </p:txBody>
      </p:sp>
      <p:sp>
        <p:nvSpPr>
          <p:cNvPr id="8" name="Shape 4"/>
          <p:cNvSpPr/>
          <p:nvPr/>
        </p:nvSpPr>
        <p:spPr>
          <a:xfrm>
            <a:off x="5143500" y="2952598"/>
            <a:ext cx="6534302" cy="1524305"/>
          </a:xfrm>
          <a:prstGeom prst="roundRect">
            <a:avLst>
              <a:gd name="adj" fmla="val 5999"/>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9" name="Shape 5"/>
          <p:cNvSpPr/>
          <p:nvPr/>
        </p:nvSpPr>
        <p:spPr>
          <a:xfrm>
            <a:off x="5143500" y="2952598"/>
            <a:ext cx="57607" cy="1524305"/>
          </a:xfrm>
          <a:prstGeom prst="roundRect">
            <a:avLst>
              <a:gd name="adj" fmla="val 158731"/>
            </a:avLst>
          </a:prstGeom>
          <a:solidFill>
            <a:srgbClr val="EF4444"/>
          </a:solidFill>
          <a:ln w="12700">
            <a:solidFill>
              <a:srgbClr val="EF4444">
                <a:alpha val="0"/>
              </a:srgbClr>
            </a:solidFill>
            <a:prstDash val="solid"/>
          </a:ln>
        </p:spPr>
        <p:txBody>
          <a:bodyPr/>
          <a:lstStyle/>
          <a:p>
            <a:endParaRPr lang="en-US"/>
          </a:p>
        </p:txBody>
      </p:sp>
      <p:sp>
        <p:nvSpPr>
          <p:cNvPr id="10" name="Shape 6"/>
          <p:cNvSpPr/>
          <p:nvPr/>
        </p:nvSpPr>
        <p:spPr>
          <a:xfrm>
            <a:off x="5143500" y="4803343"/>
            <a:ext cx="6534302" cy="1333195"/>
          </a:xfrm>
          <a:prstGeom prst="roundRect">
            <a:avLst>
              <a:gd name="adj" fmla="val 7839"/>
            </a:avLst>
          </a:prstGeom>
          <a:solidFill>
            <a:srgbClr val="FFFFFF"/>
          </a:solidFill>
          <a:ln/>
          <a:effectLst>
            <a:outerShdw blurRad="63500" dist="38100" dir="16200000" algn="bl" rotWithShape="0">
              <a:srgbClr val="000000">
                <a:alpha val="5000"/>
              </a:srgbClr>
            </a:outerShdw>
          </a:effectLst>
        </p:spPr>
        <p:txBody>
          <a:bodyPr/>
          <a:lstStyle/>
          <a:p>
            <a:endParaRPr lang="en-US" dirty="0"/>
          </a:p>
        </p:txBody>
      </p:sp>
      <p:sp>
        <p:nvSpPr>
          <p:cNvPr id="11" name="Shape 7"/>
          <p:cNvSpPr/>
          <p:nvPr/>
        </p:nvSpPr>
        <p:spPr>
          <a:xfrm>
            <a:off x="5143500" y="4803343"/>
            <a:ext cx="57607" cy="1333195"/>
          </a:xfrm>
          <a:prstGeom prst="roundRect">
            <a:avLst>
              <a:gd name="adj" fmla="val 181407"/>
            </a:avLst>
          </a:prstGeom>
          <a:solidFill>
            <a:srgbClr val="3B82F6"/>
          </a:solidFill>
          <a:ln w="12700">
            <a:solidFill>
              <a:srgbClr val="3B82F6">
                <a:alpha val="0"/>
              </a:srgbClr>
            </a:solidFill>
            <a:prstDash val="solid"/>
          </a:ln>
        </p:spPr>
        <p:txBody>
          <a:bodyPr/>
          <a:lstStyle/>
          <a:p>
            <a:endParaRPr lang="en-US"/>
          </a:p>
        </p:txBody>
      </p:sp>
      <p:sp>
        <p:nvSpPr>
          <p:cNvPr id="12" name="Text 8"/>
          <p:cNvSpPr txBox="1"/>
          <p:nvPr/>
        </p:nvSpPr>
        <p:spPr>
          <a:xfrm>
            <a:off x="571500" y="441438"/>
            <a:ext cx="12115800" cy="486461"/>
          </a:xfrm>
          <a:prstGeom prst="rect">
            <a:avLst/>
          </a:prstGeom>
          <a:noFill/>
          <a:ln/>
        </p:spPr>
        <p:txBody>
          <a:bodyPr wrap="square" lIns="0" tIns="0" rIns="0" bIns="0" rtlCol="0" anchor="ctr"/>
          <a:lstStyle/>
          <a:p>
            <a:pPr marL="0" indent="0" algn="l">
              <a:buNone/>
            </a:pPr>
            <a:r>
              <a:rPr lang="en-US" sz="3100" b="1" kern="0" spc="-37" dirty="0">
                <a:solidFill>
                  <a:srgbClr val="0F172A"/>
                </a:solidFill>
                <a:latin typeface="Montserrat" pitchFamily="34" charset="0"/>
                <a:ea typeface="Montserrat" pitchFamily="34" charset="-122"/>
                <a:cs typeface="Montserrat" pitchFamily="34" charset="-120"/>
              </a:rPr>
              <a:t>Stage 2: </a:t>
            </a:r>
            <a:r>
              <a:rPr lang="en-US" sz="3100" b="1" kern="0" spc="-37" dirty="0">
                <a:solidFill>
                  <a:srgbClr val="3B82F6"/>
                </a:solidFill>
                <a:latin typeface="Montserrat" pitchFamily="34" charset="0"/>
                <a:ea typeface="Montserrat" pitchFamily="34" charset="-122"/>
                <a:cs typeface="Montserrat" pitchFamily="34" charset="-120"/>
              </a:rPr>
              <a:t>Structuring the MILP Optimization Engine</a:t>
            </a:r>
            <a:endParaRPr lang="en-US" sz="3100" dirty="0"/>
          </a:p>
        </p:txBody>
      </p:sp>
      <p:sp>
        <p:nvSpPr>
          <p:cNvPr id="13" name="Text 9"/>
          <p:cNvSpPr txBox="1"/>
          <p:nvPr/>
        </p:nvSpPr>
        <p:spPr>
          <a:xfrm>
            <a:off x="705002" y="1619402"/>
            <a:ext cx="3924605" cy="257861"/>
          </a:xfrm>
          <a:prstGeom prst="rect">
            <a:avLst/>
          </a:prstGeom>
          <a:noFill/>
          <a:ln/>
        </p:spPr>
        <p:txBody>
          <a:bodyPr wrap="square" lIns="0" tIns="0" rIns="0" bIns="0" rtlCol="0" anchor="ctr"/>
          <a:lstStyle/>
          <a:p>
            <a:pPr marL="0" indent="0" algn="ctr">
              <a:buNone/>
            </a:pPr>
            <a:r>
              <a:rPr lang="en-US" sz="1600" b="1" dirty="0">
                <a:solidFill>
                  <a:srgbClr val="1E293B"/>
                </a:solidFill>
                <a:latin typeface="Montserrat" pitchFamily="34" charset="0"/>
                <a:ea typeface="Montserrat" pitchFamily="34" charset="-122"/>
                <a:cs typeface="Montserrat" pitchFamily="34" charset="-120"/>
              </a:rPr>
              <a:t>The Balance of Priorities</a:t>
            </a:r>
            <a:endParaRPr lang="en-US" sz="1600" dirty="0"/>
          </a:p>
        </p:txBody>
      </p:sp>
      <p:pic>
        <p:nvPicPr>
          <p:cNvPr id="14" name="Image 2" descr="preencoded.png"/>
          <p:cNvPicPr>
            <a:picLocks noChangeAspect="1"/>
          </p:cNvPicPr>
          <p:nvPr/>
        </p:nvPicPr>
        <p:blipFill>
          <a:blip r:embed="rId5"/>
          <a:srcRect l="-14" r="-14"/>
          <a:stretch/>
        </p:blipFill>
        <p:spPr>
          <a:xfrm>
            <a:off x="1833370" y="2456992"/>
            <a:ext cx="1666951" cy="1333195"/>
          </a:xfrm>
          <a:prstGeom prst="rect">
            <a:avLst/>
          </a:prstGeom>
        </p:spPr>
      </p:pic>
      <p:pic>
        <p:nvPicPr>
          <p:cNvPr id="15" name="Image 3" descr="preencoded.png"/>
          <p:cNvPicPr>
            <a:picLocks noChangeAspect="1"/>
          </p:cNvPicPr>
          <p:nvPr/>
        </p:nvPicPr>
        <p:blipFill>
          <a:blip r:embed="rId6"/>
          <a:srcRect/>
          <a:stretch/>
        </p:blipFill>
        <p:spPr>
          <a:xfrm>
            <a:off x="3105302" y="3619195"/>
            <a:ext cx="457200" cy="457200"/>
          </a:xfrm>
          <a:prstGeom prst="rect">
            <a:avLst/>
          </a:prstGeom>
        </p:spPr>
      </p:pic>
      <p:sp>
        <p:nvSpPr>
          <p:cNvPr id="16" name="Shape 10"/>
          <p:cNvSpPr/>
          <p:nvPr/>
        </p:nvSpPr>
        <p:spPr>
          <a:xfrm>
            <a:off x="666598" y="4572000"/>
            <a:ext cx="1904695" cy="333756"/>
          </a:xfrm>
          <a:prstGeom prst="roundRect">
            <a:avLst>
              <a:gd name="adj" fmla="val 93933"/>
            </a:avLst>
          </a:prstGeom>
          <a:solidFill>
            <a:srgbClr val="EFF6FF"/>
          </a:solidFill>
          <a:ln w="12700">
            <a:solidFill>
              <a:srgbClr val="FFFFFF">
                <a:alpha val="0"/>
              </a:srgbClr>
            </a:solidFill>
            <a:prstDash val="solid"/>
          </a:ln>
        </p:spPr>
        <p:txBody>
          <a:bodyPr/>
          <a:lstStyle/>
          <a:p>
            <a:endParaRPr lang="en-US"/>
          </a:p>
        </p:txBody>
      </p:sp>
      <p:sp>
        <p:nvSpPr>
          <p:cNvPr id="17" name="Text 11"/>
          <p:cNvSpPr txBox="1"/>
          <p:nvPr/>
        </p:nvSpPr>
        <p:spPr>
          <a:xfrm>
            <a:off x="629107" y="4572000"/>
            <a:ext cx="1981505" cy="333756"/>
          </a:xfrm>
          <a:prstGeom prst="rect">
            <a:avLst/>
          </a:prstGeom>
          <a:solidFill>
            <a:srgbClr val="FFFFFF">
              <a:alpha val="0"/>
            </a:srgbClr>
          </a:solidFill>
          <a:ln>
            <a:solidFill>
              <a:srgbClr val="FFFFFF">
                <a:alpha val="0"/>
              </a:srgbClr>
            </a:solidFill>
          </a:ln>
        </p:spPr>
        <p:txBody>
          <a:bodyPr wrap="square" lIns="76200" tIns="76200" rIns="76200" bIns="76200" rtlCol="0" anchor="ctr"/>
          <a:lstStyle/>
          <a:p>
            <a:pPr marL="0" indent="0" algn="ctr">
              <a:buNone/>
            </a:pPr>
            <a:r>
              <a:rPr lang="en-US" sz="1200" b="1" dirty="0">
                <a:solidFill>
                  <a:srgbClr val="3B82F6"/>
                </a:solidFill>
                <a:latin typeface="Montserrat" pitchFamily="34" charset="0"/>
                <a:ea typeface="Montserrat" pitchFamily="34" charset="-122"/>
                <a:cs typeface="Montserrat" pitchFamily="34" charset="-120"/>
              </a:rPr>
              <a:t>Utility of Admission</a:t>
            </a:r>
            <a:endParaRPr lang="en-US" sz="1200" dirty="0"/>
          </a:p>
        </p:txBody>
      </p:sp>
      <p:sp>
        <p:nvSpPr>
          <p:cNvPr id="18" name="Shape 12"/>
          <p:cNvSpPr/>
          <p:nvPr/>
        </p:nvSpPr>
        <p:spPr>
          <a:xfrm>
            <a:off x="2762402" y="4572000"/>
            <a:ext cx="1904695" cy="514807"/>
          </a:xfrm>
          <a:prstGeom prst="roundRect">
            <a:avLst>
              <a:gd name="adj" fmla="val 39471"/>
            </a:avLst>
          </a:prstGeom>
          <a:solidFill>
            <a:srgbClr val="FEF2F2"/>
          </a:solidFill>
          <a:ln w="12700">
            <a:solidFill>
              <a:srgbClr val="FFFFFF">
                <a:alpha val="0"/>
              </a:srgbClr>
            </a:solidFill>
            <a:prstDash val="solid"/>
          </a:ln>
        </p:spPr>
        <p:txBody>
          <a:bodyPr/>
          <a:lstStyle/>
          <a:p>
            <a:endParaRPr lang="en-US"/>
          </a:p>
        </p:txBody>
      </p:sp>
      <p:sp>
        <p:nvSpPr>
          <p:cNvPr id="19" name="Text 13"/>
          <p:cNvSpPr txBox="1"/>
          <p:nvPr/>
        </p:nvSpPr>
        <p:spPr>
          <a:xfrm>
            <a:off x="2723998" y="4572000"/>
            <a:ext cx="1981505" cy="514807"/>
          </a:xfrm>
          <a:prstGeom prst="rect">
            <a:avLst/>
          </a:prstGeom>
          <a:solidFill>
            <a:srgbClr val="FFFFFF">
              <a:alpha val="0"/>
            </a:srgbClr>
          </a:solidFill>
          <a:ln>
            <a:solidFill>
              <a:srgbClr val="FFFFFF">
                <a:alpha val="0"/>
              </a:srgbClr>
            </a:solidFill>
          </a:ln>
        </p:spPr>
        <p:txBody>
          <a:bodyPr wrap="square" lIns="76200" tIns="76200" rIns="76200" bIns="76200" rtlCol="0" anchor="ctr"/>
          <a:lstStyle/>
          <a:p>
            <a:pPr marL="0" indent="0" algn="ctr">
              <a:buNone/>
            </a:pPr>
            <a:r>
              <a:rPr lang="en-US" sz="1200" b="1" dirty="0">
                <a:solidFill>
                  <a:srgbClr val="EF4444"/>
                </a:solidFill>
                <a:latin typeface="Montserrat" pitchFamily="34" charset="0"/>
                <a:ea typeface="Montserrat" pitchFamily="34" charset="-122"/>
                <a:cs typeface="Montserrat" pitchFamily="34" charset="-120"/>
              </a:rPr>
              <a:t>4x Penalty for Turn-Aways</a:t>
            </a:r>
            <a:endParaRPr lang="en-US" sz="1200" dirty="0"/>
          </a:p>
        </p:txBody>
      </p:sp>
      <p:pic>
        <p:nvPicPr>
          <p:cNvPr id="20" name="Image 4" descr="preencoded.png"/>
          <p:cNvPicPr>
            <a:picLocks noChangeAspect="1"/>
          </p:cNvPicPr>
          <p:nvPr/>
        </p:nvPicPr>
        <p:blipFill>
          <a:blip r:embed="rId7"/>
          <a:srcRect/>
          <a:stretch/>
        </p:blipFill>
        <p:spPr>
          <a:xfrm>
            <a:off x="5524805" y="1714500"/>
            <a:ext cx="381305" cy="381305"/>
          </a:xfrm>
          <a:prstGeom prst="rect">
            <a:avLst/>
          </a:prstGeom>
        </p:spPr>
      </p:pic>
      <p:sp>
        <p:nvSpPr>
          <p:cNvPr id="21" name="Text 14"/>
          <p:cNvSpPr txBox="1"/>
          <p:nvPr/>
        </p:nvSpPr>
        <p:spPr>
          <a:xfrm>
            <a:off x="6191402" y="1571854"/>
            <a:ext cx="5257800" cy="228600"/>
          </a:xfrm>
          <a:prstGeom prst="rect">
            <a:avLst/>
          </a:prstGeom>
          <a:noFill/>
          <a:ln/>
        </p:spPr>
        <p:txBody>
          <a:bodyPr wrap="square" lIns="0" tIns="0" rIns="0" bIns="0" rtlCol="0" anchor="ctr"/>
          <a:lstStyle/>
          <a:p>
            <a:pPr marL="0" indent="0" algn="l">
              <a:buNone/>
            </a:pPr>
            <a:r>
              <a:rPr lang="en-US" sz="1500" b="1" dirty="0">
                <a:solidFill>
                  <a:srgbClr val="0F172A"/>
                </a:solidFill>
                <a:latin typeface="Montserrat" pitchFamily="34" charset="0"/>
                <a:ea typeface="Montserrat" pitchFamily="34" charset="-122"/>
                <a:cs typeface="Montserrat" pitchFamily="34" charset="-120"/>
              </a:rPr>
              <a:t>Objective: Maximize Net Social Welfare</a:t>
            </a:r>
            <a:endParaRPr lang="en-US" sz="1500" dirty="0"/>
          </a:p>
        </p:txBody>
      </p:sp>
      <p:sp>
        <p:nvSpPr>
          <p:cNvPr id="22" name="Text 15"/>
          <p:cNvSpPr txBox="1"/>
          <p:nvPr/>
        </p:nvSpPr>
        <p:spPr>
          <a:xfrm>
            <a:off x="6191402" y="1876349"/>
            <a:ext cx="5220310" cy="771754"/>
          </a:xfrm>
          <a:prstGeom prst="rect">
            <a:avLst/>
          </a:prstGeom>
          <a:noFill/>
          <a:ln/>
        </p:spPr>
        <p:txBody>
          <a:bodyPr wrap="square" lIns="0" tIns="0" rIns="0" bIns="0" rtlCol="0" anchor="ctr"/>
          <a:lstStyle/>
          <a:p>
            <a:pPr marL="0" indent="0" algn="l">
              <a:buNone/>
            </a:pPr>
            <a:r>
              <a:rPr lang="en-US" sz="1300" dirty="0">
                <a:solidFill>
                  <a:srgbClr val="475569"/>
                </a:solidFill>
                <a:latin typeface="Open Sans" pitchFamily="34" charset="0"/>
                <a:ea typeface="Open Sans" pitchFamily="34" charset="-122"/>
                <a:cs typeface="Open Sans" pitchFamily="34" charset="-120"/>
              </a:rPr>
              <a:t>The mathematical optimization model evaluates millions of staffing</a:t>
            </a:r>
          </a:p>
          <a:p>
            <a:pPr marL="0" indent="0" algn="l">
              <a:buNone/>
            </a:pPr>
            <a:r>
              <a:rPr lang="en-US" sz="1300" dirty="0">
                <a:solidFill>
                  <a:srgbClr val="475569"/>
                </a:solidFill>
                <a:latin typeface="Open Sans" pitchFamily="34" charset="0"/>
                <a:ea typeface="Open Sans" pitchFamily="34" charset="-122"/>
                <a:cs typeface="Open Sans" pitchFamily="34" charset="-120"/>
              </a:rPr>
              <a:t>combinations to optimize total community benefit, rather than</a:t>
            </a:r>
          </a:p>
          <a:p>
            <a:pPr marL="0" indent="0" algn="l">
              <a:buNone/>
            </a:pPr>
            <a:r>
              <a:rPr lang="en-US" sz="1300" dirty="0">
                <a:solidFill>
                  <a:srgbClr val="475569"/>
                </a:solidFill>
                <a:latin typeface="Open Sans" pitchFamily="34" charset="0"/>
                <a:ea typeface="Open Sans" pitchFamily="34" charset="-122"/>
                <a:cs typeface="Open Sans" pitchFamily="34" charset="-120"/>
              </a:rPr>
              <a:t>simply minimizing operational costs.​</a:t>
            </a:r>
            <a:endParaRPr lang="en-US" sz="1300" dirty="0"/>
          </a:p>
        </p:txBody>
      </p:sp>
      <p:pic>
        <p:nvPicPr>
          <p:cNvPr id="23" name="Image 5" descr="preencoded.png"/>
          <p:cNvPicPr>
            <a:picLocks noChangeAspect="1"/>
          </p:cNvPicPr>
          <p:nvPr/>
        </p:nvPicPr>
        <p:blipFill>
          <a:blip r:embed="rId8"/>
          <a:srcRect/>
          <a:stretch/>
        </p:blipFill>
        <p:spPr>
          <a:xfrm>
            <a:off x="5524805" y="3429000"/>
            <a:ext cx="381305" cy="381305"/>
          </a:xfrm>
          <a:prstGeom prst="rect">
            <a:avLst/>
          </a:prstGeom>
        </p:spPr>
      </p:pic>
      <p:sp>
        <p:nvSpPr>
          <p:cNvPr id="24" name="Text 16"/>
          <p:cNvSpPr txBox="1"/>
          <p:nvPr/>
        </p:nvSpPr>
        <p:spPr>
          <a:xfrm>
            <a:off x="6191402" y="3191256"/>
            <a:ext cx="5257800" cy="228600"/>
          </a:xfrm>
          <a:prstGeom prst="rect">
            <a:avLst/>
          </a:prstGeom>
          <a:noFill/>
          <a:ln/>
        </p:spPr>
        <p:txBody>
          <a:bodyPr wrap="square" lIns="0" tIns="0" rIns="0" bIns="0" rtlCol="0" anchor="ctr"/>
          <a:lstStyle/>
          <a:p>
            <a:pPr marL="0" indent="0" algn="l">
              <a:buNone/>
            </a:pPr>
            <a:r>
              <a:rPr lang="en-US" sz="1500" b="1" dirty="0">
                <a:solidFill>
                  <a:srgbClr val="0F172A"/>
                </a:solidFill>
                <a:latin typeface="Montserrat" pitchFamily="34" charset="0"/>
                <a:ea typeface="Montserrat" pitchFamily="34" charset="-122"/>
                <a:cs typeface="Montserrat" pitchFamily="34" charset="-120"/>
              </a:rPr>
              <a:t>Core Assumption: Asymmetric Human Cost</a:t>
            </a:r>
            <a:endParaRPr lang="en-US" sz="1500" dirty="0"/>
          </a:p>
        </p:txBody>
      </p:sp>
      <p:sp>
        <p:nvSpPr>
          <p:cNvPr id="25" name="Text 17"/>
          <p:cNvSpPr txBox="1"/>
          <p:nvPr/>
        </p:nvSpPr>
        <p:spPr>
          <a:xfrm>
            <a:off x="6191402" y="3495751"/>
            <a:ext cx="5220310" cy="771754"/>
          </a:xfrm>
          <a:prstGeom prst="rect">
            <a:avLst/>
          </a:prstGeom>
          <a:noFill/>
          <a:ln/>
        </p:spPr>
        <p:txBody>
          <a:bodyPr wrap="square" lIns="0" tIns="0" rIns="0" bIns="0" rtlCol="0" anchor="ctr"/>
          <a:lstStyle/>
          <a:p>
            <a:pPr marL="0" indent="0" algn="l">
              <a:buNone/>
            </a:pPr>
            <a:r>
              <a:rPr lang="en-US" sz="1300" dirty="0">
                <a:solidFill>
                  <a:srgbClr val="475569"/>
                </a:solidFill>
                <a:latin typeface="Open Sans" pitchFamily="34" charset="0"/>
                <a:ea typeface="Open Sans" pitchFamily="34" charset="-122"/>
                <a:cs typeface="Open Sans" pitchFamily="34" charset="-120"/>
              </a:rPr>
              <a:t>The human cost of rejecting a vulnerable individual far exceeds the</a:t>
            </a:r>
          </a:p>
          <a:p>
            <a:pPr marL="0" indent="0" algn="l">
              <a:buNone/>
            </a:pPr>
            <a:r>
              <a:rPr lang="en-US" sz="1300" dirty="0">
                <a:solidFill>
                  <a:srgbClr val="475569"/>
                </a:solidFill>
                <a:latin typeface="Open Sans" pitchFamily="34" charset="0"/>
                <a:ea typeface="Open Sans" pitchFamily="34" charset="-122"/>
                <a:cs typeface="Open Sans" pitchFamily="34" charset="-120"/>
              </a:rPr>
              <a:t>logistical cost of transferring them. The model enforces a strict </a:t>
            </a:r>
            <a:r>
              <a:rPr lang="en-US" sz="1300" b="1" dirty="0">
                <a:solidFill>
                  <a:srgbClr val="FF0000"/>
                </a:solidFill>
                <a:latin typeface="Open Sans" pitchFamily="34" charset="0"/>
                <a:ea typeface="Open Sans" pitchFamily="34" charset="-122"/>
                <a:cs typeface="Open Sans" pitchFamily="34" charset="-120"/>
              </a:rPr>
              <a:t>4x</a:t>
            </a:r>
          </a:p>
          <a:p>
            <a:pPr marL="0" indent="0" algn="l">
              <a:buNone/>
            </a:pPr>
            <a:r>
              <a:rPr lang="en-US" sz="1300" b="1" dirty="0">
                <a:solidFill>
                  <a:srgbClr val="FF0000"/>
                </a:solidFill>
                <a:latin typeface="Open Sans" pitchFamily="34" charset="0"/>
                <a:ea typeface="Open Sans" pitchFamily="34" charset="-122"/>
                <a:cs typeface="Open Sans" pitchFamily="34" charset="-120"/>
              </a:rPr>
              <a:t>weighted penalty</a:t>
            </a:r>
            <a:r>
              <a:rPr lang="en-US" sz="1300" dirty="0">
                <a:solidFill>
                  <a:srgbClr val="475569"/>
                </a:solidFill>
                <a:latin typeface="Open Sans" pitchFamily="34" charset="0"/>
                <a:ea typeface="Open Sans" pitchFamily="34" charset="-122"/>
                <a:cs typeface="Open Sans" pitchFamily="34" charset="-120"/>
              </a:rPr>
              <a:t> compared to admission for every turn-away. ​</a:t>
            </a:r>
            <a:endParaRPr lang="en-US" sz="1300" dirty="0"/>
          </a:p>
        </p:txBody>
      </p:sp>
      <p:pic>
        <p:nvPicPr>
          <p:cNvPr id="26" name="Image 6" descr="preencoded.png"/>
          <p:cNvPicPr>
            <a:picLocks noChangeAspect="1"/>
          </p:cNvPicPr>
          <p:nvPr/>
        </p:nvPicPr>
        <p:blipFill>
          <a:blip r:embed="rId9"/>
          <a:srcRect l="-17" r="-17"/>
          <a:stretch/>
        </p:blipFill>
        <p:spPr>
          <a:xfrm>
            <a:off x="5548579" y="5143500"/>
            <a:ext cx="333756" cy="381305"/>
          </a:xfrm>
          <a:prstGeom prst="rect">
            <a:avLst/>
          </a:prstGeom>
        </p:spPr>
      </p:pic>
      <p:sp>
        <p:nvSpPr>
          <p:cNvPr id="27" name="Text 18"/>
          <p:cNvSpPr txBox="1"/>
          <p:nvPr/>
        </p:nvSpPr>
        <p:spPr>
          <a:xfrm>
            <a:off x="6191402" y="4953305"/>
            <a:ext cx="5257800" cy="228600"/>
          </a:xfrm>
          <a:prstGeom prst="rect">
            <a:avLst/>
          </a:prstGeom>
          <a:noFill/>
          <a:ln/>
        </p:spPr>
        <p:txBody>
          <a:bodyPr wrap="square" lIns="0" tIns="0" rIns="0" bIns="0" rtlCol="0" anchor="ctr"/>
          <a:lstStyle/>
          <a:p>
            <a:pPr marL="0" indent="0" algn="l">
              <a:buNone/>
            </a:pPr>
            <a:r>
              <a:rPr lang="en-US" sz="1500" b="1" dirty="0">
                <a:solidFill>
                  <a:srgbClr val="0F172A"/>
                </a:solidFill>
                <a:latin typeface="Montserrat" pitchFamily="34" charset="0"/>
                <a:ea typeface="Montserrat" pitchFamily="34" charset="-122"/>
                <a:cs typeface="Montserrat" pitchFamily="34" charset="-120"/>
              </a:rPr>
              <a:t>Strict System Constraints</a:t>
            </a:r>
            <a:endParaRPr lang="en-US" sz="1500" dirty="0"/>
          </a:p>
        </p:txBody>
      </p:sp>
      <p:sp>
        <p:nvSpPr>
          <p:cNvPr id="28" name="Text 19"/>
          <p:cNvSpPr txBox="1"/>
          <p:nvPr/>
        </p:nvSpPr>
        <p:spPr>
          <a:xfrm>
            <a:off x="6420002" y="5257800"/>
            <a:ext cx="5029200" cy="257861"/>
          </a:xfrm>
          <a:prstGeom prst="rect">
            <a:avLst/>
          </a:prstGeom>
          <a:noFill/>
          <a:ln/>
        </p:spPr>
        <p:txBody>
          <a:bodyPr wrap="square" lIns="0" tIns="0" rIns="0" bIns="0" rtlCol="0" anchor="ctr"/>
          <a:lstStyle/>
          <a:p>
            <a:pPr marL="0" indent="0" algn="l">
              <a:buNone/>
            </a:pPr>
            <a:r>
              <a:rPr lang="en-US" sz="1300" b="1" dirty="0">
                <a:solidFill>
                  <a:srgbClr val="475569"/>
                </a:solidFill>
                <a:latin typeface="Open Sans" pitchFamily="34" charset="0"/>
                <a:ea typeface="Open Sans" pitchFamily="34" charset="-122"/>
                <a:cs typeface="Open Sans" pitchFamily="34" charset="-120"/>
              </a:rPr>
              <a:t>$33,000:</a:t>
            </a:r>
            <a:r>
              <a:rPr lang="en-US" sz="1300" dirty="0">
                <a:solidFill>
                  <a:srgbClr val="475569"/>
                </a:solidFill>
                <a:latin typeface="Open Sans" pitchFamily="34" charset="0"/>
                <a:ea typeface="Open Sans" pitchFamily="34" charset="-122"/>
                <a:cs typeface="Open Sans" pitchFamily="34" charset="-120"/>
              </a:rPr>
              <a:t> maximum nightly budget constraint </a:t>
            </a:r>
            <a:endParaRPr lang="en-US" sz="1300" dirty="0"/>
          </a:p>
        </p:txBody>
      </p:sp>
      <p:sp>
        <p:nvSpPr>
          <p:cNvPr id="29" name="Text 20"/>
          <p:cNvSpPr txBox="1"/>
          <p:nvPr/>
        </p:nvSpPr>
        <p:spPr>
          <a:xfrm>
            <a:off x="6420002" y="5553151"/>
            <a:ext cx="4984394" cy="257861"/>
          </a:xfrm>
          <a:prstGeom prst="rect">
            <a:avLst/>
          </a:prstGeom>
          <a:noFill/>
          <a:ln/>
        </p:spPr>
        <p:txBody>
          <a:bodyPr wrap="square" lIns="0" tIns="0" rIns="0" bIns="0" rtlCol="0" anchor="ctr"/>
          <a:lstStyle/>
          <a:p>
            <a:pPr marL="0" indent="0" algn="l">
              <a:buNone/>
            </a:pPr>
            <a:r>
              <a:rPr lang="en-US" sz="1300" dirty="0">
                <a:solidFill>
                  <a:srgbClr val="475569"/>
                </a:solidFill>
                <a:latin typeface="Open Sans" pitchFamily="34" charset="0"/>
                <a:ea typeface="Open Sans" pitchFamily="34" charset="-122"/>
                <a:cs typeface="Open Sans" pitchFamily="34" charset="-120"/>
              </a:rPr>
              <a:t> Absolute physical bed capacity limits </a:t>
            </a:r>
            <a:endParaRPr lang="en-US" sz="1300" dirty="0"/>
          </a:p>
        </p:txBody>
      </p:sp>
      <p:sp>
        <p:nvSpPr>
          <p:cNvPr id="30" name="Text 21"/>
          <p:cNvSpPr txBox="1"/>
          <p:nvPr/>
        </p:nvSpPr>
        <p:spPr>
          <a:xfrm>
            <a:off x="6420002" y="5848502"/>
            <a:ext cx="4984394" cy="257861"/>
          </a:xfrm>
          <a:prstGeom prst="rect">
            <a:avLst/>
          </a:prstGeom>
          <a:noFill/>
          <a:ln/>
        </p:spPr>
        <p:txBody>
          <a:bodyPr wrap="square" lIns="0" tIns="0" rIns="0" bIns="0" rtlCol="0" anchor="ctr"/>
          <a:lstStyle/>
          <a:p>
            <a:pPr marL="0" indent="0" algn="l">
              <a:buNone/>
            </a:pPr>
            <a:r>
              <a:rPr lang="en-US" sz="1300" dirty="0">
                <a:solidFill>
                  <a:srgbClr val="475569"/>
                </a:solidFill>
                <a:latin typeface="Open Sans" pitchFamily="34" charset="0"/>
                <a:ea typeface="Open Sans" pitchFamily="34" charset="-122"/>
                <a:cs typeface="Open Sans" pitchFamily="34" charset="-120"/>
              </a:rPr>
              <a:t> Mandatory </a:t>
            </a:r>
            <a:r>
              <a:rPr lang="en-US" sz="1300" b="1" dirty="0">
                <a:solidFill>
                  <a:srgbClr val="475569"/>
                </a:solidFill>
                <a:latin typeface="Open Sans" pitchFamily="34" charset="0"/>
                <a:ea typeface="Open Sans" pitchFamily="34" charset="-122"/>
                <a:cs typeface="Open Sans" pitchFamily="34" charset="-120"/>
              </a:rPr>
              <a:t>1:20</a:t>
            </a:r>
            <a:r>
              <a:rPr lang="en-US" sz="1300" dirty="0">
                <a:solidFill>
                  <a:srgbClr val="475569"/>
                </a:solidFill>
                <a:latin typeface="Open Sans" pitchFamily="34" charset="0"/>
                <a:ea typeface="Open Sans" pitchFamily="34" charset="-122"/>
                <a:cs typeface="Open Sans" pitchFamily="34" charset="-120"/>
              </a:rPr>
              <a:t> staff-to-guest compliance ratio </a:t>
            </a:r>
            <a:endParaRPr lang="en-US" sz="1300" dirty="0"/>
          </a:p>
        </p:txBody>
      </p:sp>
      <p:pic>
        <p:nvPicPr>
          <p:cNvPr id="31" name="Image 7" descr="preencoded.png"/>
          <p:cNvPicPr>
            <a:picLocks noChangeAspect="1"/>
          </p:cNvPicPr>
          <p:nvPr/>
        </p:nvPicPr>
        <p:blipFill>
          <a:blip r:embed="rId10"/>
          <a:srcRect l="-760" r="-760"/>
          <a:stretch/>
        </p:blipFill>
        <p:spPr>
          <a:xfrm>
            <a:off x="6191402" y="5298034"/>
            <a:ext cx="152705" cy="171907"/>
          </a:xfrm>
          <a:prstGeom prst="rect">
            <a:avLst/>
          </a:prstGeom>
        </p:spPr>
      </p:pic>
      <p:pic>
        <p:nvPicPr>
          <p:cNvPr id="32" name="Image 8" descr="preencoded.png"/>
          <p:cNvPicPr>
            <a:picLocks noChangeAspect="1"/>
          </p:cNvPicPr>
          <p:nvPr/>
        </p:nvPicPr>
        <p:blipFill>
          <a:blip r:embed="rId10"/>
          <a:srcRect l="-760" r="-760"/>
          <a:stretch/>
        </p:blipFill>
        <p:spPr>
          <a:xfrm>
            <a:off x="6191402" y="5593385"/>
            <a:ext cx="152705" cy="171907"/>
          </a:xfrm>
          <a:prstGeom prst="rect">
            <a:avLst/>
          </a:prstGeom>
        </p:spPr>
      </p:pic>
      <p:pic>
        <p:nvPicPr>
          <p:cNvPr id="33" name="Image 9" descr="preencoded.png"/>
          <p:cNvPicPr>
            <a:picLocks noChangeAspect="1"/>
          </p:cNvPicPr>
          <p:nvPr/>
        </p:nvPicPr>
        <p:blipFill>
          <a:blip r:embed="rId10"/>
          <a:srcRect l="-760" r="-760"/>
          <a:stretch/>
        </p:blipFill>
        <p:spPr>
          <a:xfrm>
            <a:off x="6191402" y="5888736"/>
            <a:ext cx="152705" cy="1719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4" name="Shape 2"/>
          <p:cNvSpPr/>
          <p:nvPr/>
        </p:nvSpPr>
        <p:spPr>
          <a:xfrm>
            <a:off x="571500" y="1333195"/>
            <a:ext cx="6858000" cy="4819802"/>
          </a:xfrm>
          <a:prstGeom prst="roundRect">
            <a:avLst>
              <a:gd name="adj" fmla="val 600"/>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5" name="Shape 3"/>
          <p:cNvSpPr/>
          <p:nvPr/>
        </p:nvSpPr>
        <p:spPr>
          <a:xfrm>
            <a:off x="571500" y="1333195"/>
            <a:ext cx="6858000" cy="57607"/>
          </a:xfrm>
          <a:prstGeom prst="roundRect">
            <a:avLst>
              <a:gd name="adj" fmla="val 50192"/>
            </a:avLst>
          </a:prstGeom>
          <a:solidFill>
            <a:srgbClr val="3B82F6"/>
          </a:solidFill>
          <a:ln w="12700">
            <a:solidFill>
              <a:srgbClr val="3B82F6">
                <a:alpha val="0"/>
              </a:srgbClr>
            </a:solidFill>
            <a:prstDash val="solid"/>
          </a:ln>
        </p:spPr>
        <p:txBody>
          <a:bodyPr/>
          <a:lstStyle/>
          <a:p>
            <a:endParaRPr lang="en-US"/>
          </a:p>
        </p:txBody>
      </p:sp>
      <p:sp>
        <p:nvSpPr>
          <p:cNvPr id="6" name="Shape 4"/>
          <p:cNvSpPr/>
          <p:nvPr/>
        </p:nvSpPr>
        <p:spPr>
          <a:xfrm>
            <a:off x="7715707" y="1333195"/>
            <a:ext cx="3905402" cy="2438705"/>
          </a:xfrm>
          <a:prstGeom prst="roundRect">
            <a:avLst>
              <a:gd name="adj" fmla="val 2343"/>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7715707" y="1333195"/>
            <a:ext cx="3905402" cy="57607"/>
          </a:xfrm>
          <a:prstGeom prst="roundRect">
            <a:avLst>
              <a:gd name="adj" fmla="val 99207"/>
            </a:avLst>
          </a:prstGeom>
          <a:solidFill>
            <a:srgbClr val="10B981"/>
          </a:solidFill>
          <a:ln w="12700">
            <a:solidFill>
              <a:srgbClr val="10B981">
                <a:alpha val="0"/>
              </a:srgbClr>
            </a:solidFill>
            <a:prstDash val="solid"/>
          </a:ln>
        </p:spPr>
        <p:txBody>
          <a:bodyPr/>
          <a:lstStyle/>
          <a:p>
            <a:endParaRPr lang="en-US"/>
          </a:p>
        </p:txBody>
      </p:sp>
      <p:sp>
        <p:nvSpPr>
          <p:cNvPr id="8" name="Shape 6"/>
          <p:cNvSpPr/>
          <p:nvPr/>
        </p:nvSpPr>
        <p:spPr>
          <a:xfrm>
            <a:off x="7715098" y="3905402"/>
            <a:ext cx="3905402" cy="2247595"/>
          </a:xfrm>
          <a:prstGeom prst="roundRect">
            <a:avLst>
              <a:gd name="adj" fmla="val 2758"/>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9" name="Shape 7"/>
          <p:cNvSpPr/>
          <p:nvPr/>
        </p:nvSpPr>
        <p:spPr>
          <a:xfrm>
            <a:off x="7715707" y="3905402"/>
            <a:ext cx="3905402" cy="57607"/>
          </a:xfrm>
          <a:prstGeom prst="roundRect">
            <a:avLst>
              <a:gd name="adj" fmla="val 107614"/>
            </a:avLst>
          </a:prstGeom>
          <a:solidFill>
            <a:srgbClr val="8B5CF6"/>
          </a:solidFill>
          <a:ln w="12700">
            <a:solidFill>
              <a:srgbClr val="8B5CF6">
                <a:alpha val="0"/>
              </a:srgbClr>
            </a:solidFill>
            <a:prstDash val="solid"/>
          </a:ln>
        </p:spPr>
        <p:txBody>
          <a:bodyPr/>
          <a:lstStyle/>
          <a:p>
            <a:endParaRPr lang="en-US"/>
          </a:p>
        </p:txBody>
      </p:sp>
      <p:sp>
        <p:nvSpPr>
          <p:cNvPr id="10" name="Text 8"/>
          <p:cNvSpPr txBox="1"/>
          <p:nvPr/>
        </p:nvSpPr>
        <p:spPr>
          <a:xfrm>
            <a:off x="571500" y="523036"/>
            <a:ext cx="11239805" cy="486461"/>
          </a:xfrm>
          <a:prstGeom prst="rect">
            <a:avLst/>
          </a:prstGeom>
          <a:noFill/>
          <a:ln/>
        </p:spPr>
        <p:txBody>
          <a:bodyPr wrap="square" lIns="0" tIns="0" rIns="0" bIns="0" rtlCol="0" anchor="ctr"/>
          <a:lstStyle/>
          <a:p>
            <a:pPr marL="0" indent="0" algn="l">
              <a:buNone/>
            </a:pPr>
            <a:r>
              <a:rPr lang="en-US" sz="3100" b="1" kern="0" spc="-37" dirty="0">
                <a:solidFill>
                  <a:srgbClr val="0F172A"/>
                </a:solidFill>
                <a:latin typeface="Montserrat" pitchFamily="34" charset="0"/>
                <a:ea typeface="Montserrat" pitchFamily="34" charset="-122"/>
                <a:cs typeface="Montserrat" pitchFamily="34" charset="-120"/>
              </a:rPr>
              <a:t>Stage 2 Output: </a:t>
            </a:r>
            <a:r>
              <a:rPr lang="en-US" sz="3100" b="1" kern="0" spc="-37" dirty="0">
                <a:solidFill>
                  <a:srgbClr val="3B82F6"/>
                </a:solidFill>
                <a:latin typeface="Montserrat" pitchFamily="34" charset="0"/>
                <a:ea typeface="Montserrat" pitchFamily="34" charset="-122"/>
                <a:cs typeface="Montserrat" pitchFamily="34" charset="-120"/>
              </a:rPr>
              <a:t>The Optimal Staffing Plan</a:t>
            </a:r>
            <a:endParaRPr lang="en-US" sz="3100" dirty="0"/>
          </a:p>
        </p:txBody>
      </p:sp>
      <p:sp>
        <p:nvSpPr>
          <p:cNvPr id="11" name="Text 9"/>
          <p:cNvSpPr txBox="1"/>
          <p:nvPr/>
        </p:nvSpPr>
        <p:spPr>
          <a:xfrm>
            <a:off x="952805" y="1619402"/>
            <a:ext cx="6210605" cy="228600"/>
          </a:xfrm>
          <a:prstGeom prst="rect">
            <a:avLst/>
          </a:prstGeom>
          <a:noFill/>
          <a:ln/>
        </p:spPr>
        <p:txBody>
          <a:bodyPr wrap="square" lIns="0" tIns="0" rIns="0" bIns="0" rtlCol="0" anchor="ctr"/>
          <a:lstStyle/>
          <a:p>
            <a:pPr marL="0" indent="0" algn="l">
              <a:buNone/>
            </a:pPr>
            <a:r>
              <a:rPr lang="en-US" sz="1500" b="1" dirty="0">
                <a:solidFill>
                  <a:srgbClr val="1E293B"/>
                </a:solidFill>
                <a:latin typeface="Montserrat" pitchFamily="34" charset="0"/>
                <a:ea typeface="Montserrat" pitchFamily="34" charset="-122"/>
                <a:cs typeface="Montserrat" pitchFamily="34" charset="-120"/>
              </a:rPr>
              <a:t>Optimal Staffing Allocation Scenario</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463308074"/>
              </p:ext>
            </p:extLst>
          </p:nvPr>
        </p:nvGraphicFramePr>
        <p:xfrm>
          <a:off x="952805" y="2095805"/>
          <a:ext cx="6096305" cy="3829504"/>
        </p:xfrm>
        <a:graphic>
          <a:graphicData uri="http://schemas.openxmlformats.org/drawingml/2006/table">
            <a:tbl>
              <a:tblPr/>
              <a:tblGrid>
                <a:gridCol w="2438705">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78688">
                <a:tc>
                  <a:txBody>
                    <a:bodyPr/>
                    <a:lstStyle/>
                    <a:p>
                      <a:pPr marL="0" indent="0" algn="l">
                        <a:buNone/>
                      </a:pPr>
                      <a:r>
                        <a:rPr lang="en-US" sz="1200" b="1" dirty="0">
                          <a:solidFill>
                            <a:srgbClr val="0F172A"/>
                          </a:solidFill>
                          <a:latin typeface="Montserrat" pitchFamily="34" charset="0"/>
                          <a:ea typeface="Montserrat" pitchFamily="34" charset="-122"/>
                          <a:cs typeface="Montserrat" pitchFamily="34" charset="-120"/>
                        </a:rPr>
                        <a:t>Warming Center</a:t>
                      </a:r>
                      <a:endParaRPr lang="en-US" sz="1200" dirty="0">
                        <a:latin typeface="Montserrat" charset="0"/>
                        <a:ea typeface="Montserrat" charset="0"/>
                        <a:cs typeface="Montserrat" charset="0"/>
                      </a:endParaRPr>
                    </a:p>
                  </a:txBody>
                  <a:tcPr marL="75895" marR="75895" marT="114300" marB="114300"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0" cap="flat" cmpd="sng" algn="ctr">
                      <a:solidFill>
                        <a:srgbClr val="334155"/>
                      </a:solidFill>
                      <a:prstDash val="solid"/>
                      <a:round/>
                      <a:headEnd type="none" w="med" len="med"/>
                      <a:tailEnd type="none" w="med" len="med"/>
                    </a:lnT>
                    <a:lnB w="19050" cap="flat" cmpd="sng" algn="ctr">
                      <a:solidFill>
                        <a:srgbClr val="334155"/>
                      </a:solidFill>
                      <a:prstDash val="solid"/>
                      <a:round/>
                      <a:headEnd type="none" w="med" len="med"/>
                      <a:tailEnd type="none" w="med" len="med"/>
                    </a:lnB>
                  </a:tcPr>
                </a:tc>
                <a:tc>
                  <a:txBody>
                    <a:bodyPr/>
                    <a:lstStyle/>
                    <a:p>
                      <a:pPr marL="0" indent="0" algn="ctr">
                        <a:buNone/>
                      </a:pPr>
                      <a:r>
                        <a:rPr lang="en-US" sz="1200" b="1" dirty="0">
                          <a:solidFill>
                            <a:srgbClr val="0F172A"/>
                          </a:solidFill>
                          <a:latin typeface="Montserrat" pitchFamily="34" charset="0"/>
                          <a:ea typeface="Montserrat" pitchFamily="34" charset="-122"/>
                          <a:cs typeface="Montserrat" pitchFamily="34" charset="-120"/>
                        </a:rPr>
                        <a:t>Physical Capacity</a:t>
                      </a:r>
                      <a:endParaRPr lang="en-US" sz="1200" dirty="0">
                        <a:latin typeface="Montserrat" charset="0"/>
                        <a:ea typeface="Montserrat" charset="0"/>
                        <a:cs typeface="Montserrat" charset="0"/>
                      </a:endParaRPr>
                    </a:p>
                  </a:txBody>
                  <a:tcPr marL="75895" marR="75895" marT="114300" marB="114300"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0" cap="flat" cmpd="sng" algn="ctr">
                      <a:solidFill>
                        <a:srgbClr val="334155"/>
                      </a:solidFill>
                      <a:prstDash val="solid"/>
                      <a:round/>
                      <a:headEnd type="none" w="med" len="med"/>
                      <a:tailEnd type="none" w="med" len="med"/>
                    </a:lnT>
                    <a:lnB w="19050" cap="flat" cmpd="sng" algn="ctr">
                      <a:solidFill>
                        <a:srgbClr val="334155"/>
                      </a:solidFill>
                      <a:prstDash val="solid"/>
                      <a:round/>
                      <a:headEnd type="none" w="med" len="med"/>
                      <a:tailEnd type="none" w="med" len="med"/>
                    </a:lnB>
                  </a:tcPr>
                </a:tc>
                <a:tc>
                  <a:txBody>
                    <a:bodyPr/>
                    <a:lstStyle/>
                    <a:p>
                      <a:pPr marL="0" indent="0" algn="ctr">
                        <a:buNone/>
                      </a:pPr>
                      <a:r>
                        <a:rPr lang="en-US" sz="1200" b="1" dirty="0">
                          <a:solidFill>
                            <a:srgbClr val="0F172A"/>
                          </a:solidFill>
                          <a:latin typeface="Montserrat" pitchFamily="34" charset="0"/>
                          <a:ea typeface="Montserrat" pitchFamily="34" charset="-122"/>
                          <a:cs typeface="Montserrat" pitchFamily="34" charset="-120"/>
                        </a:rPr>
                        <a:t>Allocated Staff</a:t>
                      </a:r>
                      <a:endParaRPr lang="en-US" sz="1200" dirty="0">
                        <a:latin typeface="Montserrat" charset="0"/>
                        <a:ea typeface="Montserrat" charset="0"/>
                        <a:cs typeface="Montserrat" charset="0"/>
                      </a:endParaRPr>
                    </a:p>
                  </a:txBody>
                  <a:tcPr marL="75895" marR="75895" marT="114300" marB="114300"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0" cap="flat" cmpd="sng" algn="ctr">
                      <a:solidFill>
                        <a:srgbClr val="334155"/>
                      </a:solidFill>
                      <a:prstDash val="solid"/>
                      <a:round/>
                      <a:headEnd type="none" w="med" len="med"/>
                      <a:tailEnd type="none" w="med" len="med"/>
                    </a:lnT>
                    <a:lnB w="19050" cap="flat" cmpd="sng" algn="ctr">
                      <a:solidFill>
                        <a:srgbClr val="334155"/>
                      </a:solidFill>
                      <a:prstDash val="solid"/>
                      <a:round/>
                      <a:headEnd type="none" w="med" len="med"/>
                      <a:tailEnd type="none" w="med" len="med"/>
                    </a:lnB>
                  </a:tcPr>
                </a:tc>
                <a:extLst>
                  <a:ext uri="{0D108BD9-81ED-4DB2-BD59-A6C34878D82A}">
                    <a16:rowId xmlns:a16="http://schemas.microsoft.com/office/drawing/2014/main" val="10000"/>
                  </a:ext>
                </a:extLst>
              </a:tr>
              <a:tr h="478688">
                <a:tc>
                  <a:txBody>
                    <a:bodyPr/>
                    <a:lstStyle/>
                    <a:p>
                      <a:pPr marL="0" indent="0" algn="l">
                        <a:buNone/>
                      </a:pPr>
                      <a:r>
                        <a:rPr lang="en-US" sz="1200" b="1" dirty="0">
                          <a:solidFill>
                            <a:srgbClr val="334155"/>
                          </a:solidFill>
                          <a:latin typeface="Open Sans" pitchFamily="34" charset="0"/>
                          <a:ea typeface="Open Sans" pitchFamily="34" charset="-122"/>
                          <a:cs typeface="Open Sans" pitchFamily="34" charset="-120"/>
                        </a:rPr>
                        <a:t>Elizabeth</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19050" cap="flat" cmpd="sng" algn="ctr">
                      <a:solidFill>
                        <a:srgbClr val="334155"/>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75569"/>
                          </a:solidFill>
                          <a:latin typeface="Open Sans" pitchFamily="34" charset="0"/>
                          <a:ea typeface="Open Sans" pitchFamily="34" charset="-122"/>
                          <a:cs typeface="Open Sans" pitchFamily="34" charset="-120"/>
                        </a:rPr>
                        <a:t>75 beds</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19050" cap="flat" cmpd="sng" algn="ctr">
                      <a:solidFill>
                        <a:srgbClr val="334155"/>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CA" sz="1200" b="1" dirty="0">
                          <a:solidFill>
                            <a:srgbClr val="3B82F6"/>
                          </a:solidFill>
                          <a:latin typeface="Open Sans" pitchFamily="34" charset="0"/>
                          <a:ea typeface="Open Sans" pitchFamily="34" charset="-122"/>
                          <a:cs typeface="Open Sans" pitchFamily="34" charset="-120"/>
                        </a:rPr>
                        <a:t>4</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19050" cap="flat" cmpd="sng" algn="ctr">
                      <a:solidFill>
                        <a:srgbClr val="334155"/>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78688">
                <a:tc>
                  <a:txBody>
                    <a:bodyPr/>
                    <a:lstStyle/>
                    <a:p>
                      <a:pPr marL="0" indent="0" algn="l">
                        <a:buNone/>
                      </a:pPr>
                      <a:r>
                        <a:rPr lang="en-US" sz="1200" b="1" dirty="0">
                          <a:solidFill>
                            <a:srgbClr val="334155"/>
                          </a:solidFill>
                          <a:latin typeface="Open Sans" pitchFamily="34" charset="0"/>
                          <a:ea typeface="Open Sans" pitchFamily="34" charset="-122"/>
                          <a:cs typeface="Open Sans" pitchFamily="34" charset="-120"/>
                        </a:rPr>
                        <a:t>George</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75569"/>
                          </a:solidFill>
                          <a:latin typeface="Open Sans" pitchFamily="34" charset="0"/>
                          <a:ea typeface="Open Sans" pitchFamily="34" charset="-122"/>
                          <a:cs typeface="Open Sans" pitchFamily="34" charset="-120"/>
                        </a:rPr>
                        <a:t>30 beds</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3B82F6"/>
                          </a:solidFill>
                          <a:latin typeface="Open Sans" pitchFamily="34" charset="0"/>
                          <a:ea typeface="Open Sans" pitchFamily="34" charset="-122"/>
                          <a:cs typeface="Open Sans" pitchFamily="34" charset="-120"/>
                        </a:rPr>
                        <a:t>2</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78688">
                <a:tc>
                  <a:txBody>
                    <a:bodyPr/>
                    <a:lstStyle/>
                    <a:p>
                      <a:pPr marL="0" indent="0" algn="l">
                        <a:buNone/>
                      </a:pPr>
                      <a:r>
                        <a:rPr lang="en-US" sz="1200" b="1" dirty="0">
                          <a:solidFill>
                            <a:srgbClr val="334155"/>
                          </a:solidFill>
                          <a:latin typeface="Open Sans" pitchFamily="34" charset="0"/>
                          <a:ea typeface="Open Sans" pitchFamily="34" charset="-122"/>
                          <a:cs typeface="Open Sans" pitchFamily="34" charset="-120"/>
                        </a:rPr>
                        <a:t>Scarborough</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75569"/>
                          </a:solidFill>
                          <a:latin typeface="Open Sans" pitchFamily="34" charset="0"/>
                          <a:ea typeface="Open Sans" pitchFamily="34" charset="-122"/>
                          <a:cs typeface="Open Sans" pitchFamily="34" charset="-120"/>
                        </a:rPr>
                        <a:t>68 beds</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3B82F6"/>
                          </a:solidFill>
                          <a:latin typeface="Open Sans" pitchFamily="34" charset="0"/>
                          <a:ea typeface="Open Sans" pitchFamily="34" charset="-122"/>
                          <a:cs typeface="Open Sans" pitchFamily="34" charset="-120"/>
                        </a:rPr>
                        <a:t>4</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78688">
                <a:tc>
                  <a:txBody>
                    <a:bodyPr/>
                    <a:lstStyle/>
                    <a:p>
                      <a:pPr marL="0" indent="0" algn="l">
                        <a:buNone/>
                      </a:pPr>
                      <a:r>
                        <a:rPr lang="en-US" sz="1200" b="1" dirty="0">
                          <a:solidFill>
                            <a:srgbClr val="334155"/>
                          </a:solidFill>
                          <a:latin typeface="Open Sans" pitchFamily="34" charset="0"/>
                          <a:ea typeface="Open Sans" pitchFamily="34" charset="-122"/>
                          <a:cs typeface="Open Sans" pitchFamily="34" charset="-120"/>
                        </a:rPr>
                        <a:t>North York</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75569"/>
                          </a:solidFill>
                          <a:latin typeface="Open Sans" pitchFamily="34" charset="0"/>
                          <a:ea typeface="Open Sans" pitchFamily="34" charset="-122"/>
                          <a:cs typeface="Open Sans" pitchFamily="34" charset="-120"/>
                        </a:rPr>
                        <a:t>46 beds</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3B82F6"/>
                          </a:solidFill>
                          <a:latin typeface="Open Sans" pitchFamily="34" charset="0"/>
                          <a:ea typeface="Open Sans" pitchFamily="34" charset="-122"/>
                          <a:cs typeface="Open Sans" pitchFamily="34" charset="-120"/>
                        </a:rPr>
                        <a:t>3</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78688">
                <a:tc>
                  <a:txBody>
                    <a:bodyPr/>
                    <a:lstStyle/>
                    <a:p>
                      <a:pPr marL="0" indent="0" algn="l">
                        <a:buNone/>
                      </a:pPr>
                      <a:r>
                        <a:rPr lang="en-US" sz="1200" b="1" dirty="0">
                          <a:solidFill>
                            <a:srgbClr val="334155"/>
                          </a:solidFill>
                          <a:latin typeface="Open Sans" pitchFamily="34" charset="0"/>
                          <a:ea typeface="Open Sans" pitchFamily="34" charset="-122"/>
                          <a:cs typeface="Open Sans" pitchFamily="34" charset="-120"/>
                        </a:rPr>
                        <a:t>Spadina</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dirty="0">
                          <a:solidFill>
                            <a:srgbClr val="475569"/>
                          </a:solidFill>
                          <a:latin typeface="Open Sans" pitchFamily="34" charset="0"/>
                          <a:ea typeface="Open Sans" pitchFamily="34" charset="-122"/>
                          <a:cs typeface="Open Sans" pitchFamily="34" charset="-120"/>
                        </a:rPr>
                        <a:t>22 beds</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3B82F6"/>
                          </a:solidFill>
                          <a:latin typeface="Open Sans" pitchFamily="34" charset="0"/>
                          <a:ea typeface="Open Sans" pitchFamily="34" charset="-122"/>
                          <a:cs typeface="Open Sans" pitchFamily="34" charset="-120"/>
                        </a:rPr>
                        <a:t>2</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478688">
                <a:tc>
                  <a:txBody>
                    <a:bodyPr/>
                    <a:lstStyle/>
                    <a:p>
                      <a:pPr marL="0" indent="0" algn="l">
                        <a:buNone/>
                      </a:pPr>
                      <a:r>
                        <a:rPr lang="en-US" sz="1200" b="1" i="1" dirty="0">
                          <a:solidFill>
                            <a:schemeClr val="bg1">
                              <a:lumMod val="50000"/>
                            </a:schemeClr>
                          </a:solidFill>
                          <a:latin typeface="Open Sans" pitchFamily="34" charset="0"/>
                          <a:ea typeface="Open Sans" pitchFamily="34" charset="-122"/>
                          <a:cs typeface="Open Sans" pitchFamily="34" charset="-120"/>
                        </a:rPr>
                        <a:t>Cecil (Extreme)</a:t>
                      </a:r>
                      <a:endParaRPr lang="en-US" sz="1200" dirty="0">
                        <a:solidFill>
                          <a:schemeClr val="bg1">
                            <a:lumMod val="50000"/>
                          </a:schemeClr>
                        </a:solidFill>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i="1" dirty="0">
                          <a:solidFill>
                            <a:schemeClr val="bg1">
                              <a:lumMod val="50000"/>
                            </a:schemeClr>
                          </a:solidFill>
                          <a:latin typeface="Open Sans" pitchFamily="34" charset="0"/>
                          <a:ea typeface="Open Sans" pitchFamily="34" charset="-122"/>
                          <a:cs typeface="Open Sans" pitchFamily="34" charset="-120"/>
                        </a:rPr>
                        <a:t>30 beds</a:t>
                      </a:r>
                      <a:endParaRPr lang="en-US" sz="1200" dirty="0">
                        <a:solidFill>
                          <a:schemeClr val="bg1">
                            <a:lumMod val="50000"/>
                          </a:schemeClr>
                        </a:solidFill>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94A3B8"/>
                          </a:solidFill>
                          <a:latin typeface="Open Sans" pitchFamily="34" charset="0"/>
                          <a:ea typeface="Open Sans" pitchFamily="34" charset="-122"/>
                          <a:cs typeface="Open Sans" pitchFamily="34" charset="-120"/>
                        </a:rPr>
                        <a:t>2</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478688">
                <a:tc>
                  <a:txBody>
                    <a:bodyPr/>
                    <a:lstStyle/>
                    <a:p>
                      <a:pPr marL="0" indent="0" algn="l">
                        <a:buNone/>
                      </a:pPr>
                      <a:r>
                        <a:rPr lang="en-US" sz="1200" b="1" i="1" dirty="0">
                          <a:solidFill>
                            <a:schemeClr val="bg1">
                              <a:lumMod val="50000"/>
                            </a:schemeClr>
                          </a:solidFill>
                          <a:latin typeface="Open Sans" pitchFamily="34" charset="0"/>
                          <a:ea typeface="Open Sans" pitchFamily="34" charset="-122"/>
                          <a:cs typeface="Open Sans" pitchFamily="34" charset="-120"/>
                        </a:rPr>
                        <a:t>Jimmie Simpson (Extreme)</a:t>
                      </a:r>
                      <a:endParaRPr lang="en-US" sz="1200" dirty="0">
                        <a:solidFill>
                          <a:schemeClr val="bg1">
                            <a:lumMod val="50000"/>
                          </a:schemeClr>
                        </a:solidFill>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i="1" dirty="0">
                          <a:solidFill>
                            <a:schemeClr val="bg1">
                              <a:lumMod val="50000"/>
                            </a:schemeClr>
                          </a:solidFill>
                          <a:latin typeface="Open Sans" pitchFamily="34" charset="0"/>
                          <a:ea typeface="Open Sans" pitchFamily="34" charset="-122"/>
                          <a:cs typeface="Open Sans" pitchFamily="34" charset="-120"/>
                        </a:rPr>
                        <a:t>30 beds</a:t>
                      </a:r>
                      <a:endParaRPr lang="en-US" sz="1200" dirty="0">
                        <a:solidFill>
                          <a:schemeClr val="bg1">
                            <a:lumMod val="50000"/>
                          </a:schemeClr>
                        </a:solidFill>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tc>
                  <a:txBody>
                    <a:bodyPr/>
                    <a:lstStyle/>
                    <a:p>
                      <a:pPr marL="0" indent="0" algn="ctr">
                        <a:buNone/>
                      </a:pPr>
                      <a:r>
                        <a:rPr lang="en-US" sz="1200" b="1" dirty="0">
                          <a:solidFill>
                            <a:srgbClr val="94A3B8"/>
                          </a:solidFill>
                          <a:latin typeface="Open Sans" pitchFamily="34" charset="0"/>
                          <a:ea typeface="Open Sans" pitchFamily="34" charset="-122"/>
                          <a:cs typeface="Open Sans" pitchFamily="34" charset="-120"/>
                        </a:rPr>
                        <a:t>2</a:t>
                      </a:r>
                      <a:endParaRPr lang="en-US" sz="1200" dirty="0">
                        <a:latin typeface="Open Sans" charset="0"/>
                        <a:ea typeface="Open Sans" charset="0"/>
                        <a:cs typeface="Open Sans" charset="0"/>
                      </a:endParaRPr>
                    </a:p>
                  </a:txBody>
                  <a:tcPr marL="75895" marR="75895" marT="133502" marB="133502" anchor="ctr">
                    <a:lnL w="0" cap="flat" cmpd="sng" algn="ctr">
                      <a:solidFill>
                        <a:srgbClr val="334155"/>
                      </a:solidFill>
                      <a:prstDash val="solid"/>
                      <a:round/>
                      <a:headEnd type="none" w="med" len="med"/>
                      <a:tailEnd type="none" w="med" len="med"/>
                    </a:lnL>
                    <a:lnR w="0" cap="flat" cmpd="sng" algn="ctr">
                      <a:solidFill>
                        <a:srgbClr val="334155"/>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13" name="Image 0" descr="preencoded.png"/>
          <p:cNvPicPr>
            <a:picLocks noChangeAspect="1"/>
          </p:cNvPicPr>
          <p:nvPr/>
        </p:nvPicPr>
        <p:blipFill>
          <a:blip r:embed="rId3"/>
          <a:srcRect l="-90" r="-90"/>
          <a:stretch/>
        </p:blipFill>
        <p:spPr>
          <a:xfrm>
            <a:off x="8001000" y="1619402"/>
            <a:ext cx="381305" cy="304495"/>
          </a:xfrm>
          <a:prstGeom prst="rect">
            <a:avLst/>
          </a:prstGeom>
        </p:spPr>
      </p:pic>
      <p:sp>
        <p:nvSpPr>
          <p:cNvPr id="14" name="Text 10"/>
          <p:cNvSpPr txBox="1"/>
          <p:nvPr/>
        </p:nvSpPr>
        <p:spPr>
          <a:xfrm>
            <a:off x="8001000" y="2190902"/>
            <a:ext cx="3448202" cy="210312"/>
          </a:xfrm>
          <a:prstGeom prst="rect">
            <a:avLst/>
          </a:prstGeom>
          <a:noFill/>
          <a:ln/>
        </p:spPr>
        <p:txBody>
          <a:bodyPr wrap="square" lIns="0" tIns="0" rIns="0" bIns="0" rtlCol="0" anchor="ctr"/>
          <a:lstStyle/>
          <a:p>
            <a:pPr marL="0" indent="0" algn="l">
              <a:buNone/>
            </a:pPr>
            <a:r>
              <a:rPr lang="en-US" sz="1300" b="1" kern="0" spc="75" dirty="0">
                <a:solidFill>
                  <a:srgbClr val="64748B"/>
                </a:solidFill>
                <a:latin typeface="Montserrat" pitchFamily="34" charset="0"/>
                <a:ea typeface="Montserrat" pitchFamily="34" charset="-122"/>
                <a:cs typeface="Montserrat" pitchFamily="34" charset="-120"/>
              </a:rPr>
              <a:t>Total Expected Welfare</a:t>
            </a:r>
            <a:endParaRPr lang="en-US" sz="1300" dirty="0"/>
          </a:p>
        </p:txBody>
      </p:sp>
      <p:sp>
        <p:nvSpPr>
          <p:cNvPr id="15" name="Text 11"/>
          <p:cNvSpPr txBox="1"/>
          <p:nvPr/>
        </p:nvSpPr>
        <p:spPr>
          <a:xfrm>
            <a:off x="8001000" y="2476195"/>
            <a:ext cx="3525012" cy="457200"/>
          </a:xfrm>
          <a:prstGeom prst="rect">
            <a:avLst/>
          </a:prstGeom>
          <a:noFill/>
          <a:ln/>
        </p:spPr>
        <p:txBody>
          <a:bodyPr wrap="square" lIns="0" tIns="0" rIns="0" bIns="0" rtlCol="0" anchor="ctr"/>
          <a:lstStyle/>
          <a:p>
            <a:pPr marL="0" indent="0" algn="l">
              <a:buNone/>
            </a:pPr>
            <a:r>
              <a:rPr lang="en-US" sz="3600" b="1" dirty="0">
                <a:solidFill>
                  <a:srgbClr val="0F172A"/>
                </a:solidFill>
                <a:latin typeface="Montserrat" pitchFamily="34" charset="0"/>
                <a:ea typeface="Montserrat" pitchFamily="34" charset="-122"/>
                <a:cs typeface="Montserrat" pitchFamily="34" charset="-120"/>
              </a:rPr>
              <a:t>[117,276]</a:t>
            </a:r>
            <a:endParaRPr lang="en-US" sz="3600" dirty="0"/>
          </a:p>
        </p:txBody>
      </p:sp>
      <p:sp>
        <p:nvSpPr>
          <p:cNvPr id="16" name="Text 12"/>
          <p:cNvSpPr txBox="1"/>
          <p:nvPr/>
        </p:nvSpPr>
        <p:spPr>
          <a:xfrm>
            <a:off x="8001000" y="3082850"/>
            <a:ext cx="3410712" cy="457200"/>
          </a:xfrm>
          <a:prstGeom prst="rect">
            <a:avLst/>
          </a:prstGeom>
          <a:noFill/>
          <a:ln/>
        </p:spPr>
        <p:txBody>
          <a:bodyPr wrap="square" lIns="0" tIns="0" rIns="0" bIns="0" rtlCol="0" anchor="ctr"/>
          <a:lstStyle/>
          <a:p>
            <a:pPr marL="0" indent="0" algn="l">
              <a:buNone/>
            </a:pPr>
            <a:r>
              <a:rPr lang="en-US" sz="1200" dirty="0">
                <a:solidFill>
                  <a:srgbClr val="475569"/>
                </a:solidFill>
                <a:latin typeface="Open Sans" pitchFamily="34" charset="0"/>
                <a:ea typeface="Open Sans" pitchFamily="34" charset="-122"/>
                <a:cs typeface="Open Sans" pitchFamily="34" charset="-120"/>
              </a:rPr>
              <a:t>Optimized score prioritizing admission utility and minimizing rejection penalties within 4 transfers and 9 rejections under extreme scenario.</a:t>
            </a:r>
            <a:endParaRPr lang="en-US" sz="1200" dirty="0"/>
          </a:p>
        </p:txBody>
      </p:sp>
      <p:pic>
        <p:nvPicPr>
          <p:cNvPr id="17" name="Image 1" descr="preencoded.png"/>
          <p:cNvPicPr>
            <a:picLocks noChangeAspect="1"/>
          </p:cNvPicPr>
          <p:nvPr/>
        </p:nvPicPr>
        <p:blipFill>
          <a:blip r:embed="rId4"/>
          <a:srcRect/>
          <a:stretch/>
        </p:blipFill>
        <p:spPr>
          <a:xfrm>
            <a:off x="8039405" y="4190695"/>
            <a:ext cx="304495" cy="304495"/>
          </a:xfrm>
          <a:prstGeom prst="rect">
            <a:avLst/>
          </a:prstGeom>
        </p:spPr>
      </p:pic>
      <p:sp>
        <p:nvSpPr>
          <p:cNvPr id="18" name="Text 13"/>
          <p:cNvSpPr txBox="1"/>
          <p:nvPr/>
        </p:nvSpPr>
        <p:spPr>
          <a:xfrm>
            <a:off x="8001000" y="4677973"/>
            <a:ext cx="3448202" cy="210312"/>
          </a:xfrm>
          <a:prstGeom prst="rect">
            <a:avLst/>
          </a:prstGeom>
          <a:noFill/>
          <a:ln/>
        </p:spPr>
        <p:txBody>
          <a:bodyPr wrap="square" lIns="0" tIns="0" rIns="0" bIns="0" rtlCol="0" anchor="ctr"/>
          <a:lstStyle/>
          <a:p>
            <a:pPr marL="0" indent="0" algn="l">
              <a:buNone/>
            </a:pPr>
            <a:r>
              <a:rPr lang="en-CA" altLang="zh-CN" sz="1300" b="1" kern="0" spc="75" dirty="0">
                <a:solidFill>
                  <a:srgbClr val="64748B"/>
                </a:solidFill>
                <a:latin typeface="Montserrat" pitchFamily="34" charset="0"/>
                <a:ea typeface="Montserrat" pitchFamily="34" charset="-122"/>
                <a:cs typeface="Montserrat" pitchFamily="34" charset="-120"/>
              </a:rPr>
              <a:t>Expected Nightly Cost</a:t>
            </a:r>
            <a:endParaRPr lang="en-US" sz="1300" dirty="0"/>
          </a:p>
        </p:txBody>
      </p:sp>
      <p:sp>
        <p:nvSpPr>
          <p:cNvPr id="19" name="Text 14"/>
          <p:cNvSpPr txBox="1"/>
          <p:nvPr/>
        </p:nvSpPr>
        <p:spPr>
          <a:xfrm>
            <a:off x="8001000" y="5021787"/>
            <a:ext cx="3525012" cy="457200"/>
          </a:xfrm>
          <a:prstGeom prst="rect">
            <a:avLst/>
          </a:prstGeom>
          <a:noFill/>
          <a:ln/>
        </p:spPr>
        <p:txBody>
          <a:bodyPr wrap="square" lIns="0" tIns="0" rIns="0" bIns="0" rtlCol="0" anchor="ctr"/>
          <a:lstStyle/>
          <a:p>
            <a:pPr marL="0" indent="0" algn="l">
              <a:buNone/>
            </a:pPr>
            <a:r>
              <a:rPr lang="en-US" sz="3200" b="1" dirty="0">
                <a:solidFill>
                  <a:srgbClr val="0F172A"/>
                </a:solidFill>
                <a:latin typeface="Montserrat" pitchFamily="34" charset="0"/>
                <a:ea typeface="Montserrat" pitchFamily="34" charset="-122"/>
                <a:cs typeface="Montserrat" pitchFamily="34" charset="-120"/>
              </a:rPr>
              <a:t>$31,614≤ $33,000</a:t>
            </a:r>
            <a:endParaRPr lang="en-US" sz="3200" dirty="0"/>
          </a:p>
        </p:txBody>
      </p:sp>
      <p:sp>
        <p:nvSpPr>
          <p:cNvPr id="20" name="Text 15"/>
          <p:cNvSpPr txBox="1"/>
          <p:nvPr/>
        </p:nvSpPr>
        <p:spPr>
          <a:xfrm>
            <a:off x="8001000" y="5590641"/>
            <a:ext cx="3410712" cy="457200"/>
          </a:xfrm>
          <a:prstGeom prst="rect">
            <a:avLst/>
          </a:prstGeom>
          <a:noFill/>
          <a:ln/>
        </p:spPr>
        <p:txBody>
          <a:bodyPr wrap="square" lIns="0" tIns="0" rIns="0" bIns="0" rtlCol="0" anchor="ctr"/>
          <a:lstStyle/>
          <a:p>
            <a:pPr marL="0" indent="0" algn="l">
              <a:buNone/>
            </a:pPr>
            <a:r>
              <a:rPr lang="en-US" sz="1200" dirty="0">
                <a:solidFill>
                  <a:srgbClr val="475569"/>
                </a:solidFill>
                <a:latin typeface="Open Sans" pitchFamily="34" charset="0"/>
                <a:ea typeface="Open Sans" pitchFamily="34" charset="-122"/>
                <a:cs typeface="Open Sans" pitchFamily="34" charset="-120"/>
              </a:rPr>
              <a:t>Fully compliant with the strict nightly funding limit established by the city.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4" name="Shape 2"/>
          <p:cNvSpPr/>
          <p:nvPr/>
        </p:nvSpPr>
        <p:spPr>
          <a:xfrm>
            <a:off x="381305" y="1429207"/>
            <a:ext cx="7429500" cy="4914900"/>
          </a:xfrm>
          <a:prstGeom prst="roundRect">
            <a:avLst>
              <a:gd name="adj" fmla="val 577"/>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5" name="Shape 3"/>
          <p:cNvSpPr/>
          <p:nvPr/>
        </p:nvSpPr>
        <p:spPr>
          <a:xfrm>
            <a:off x="381305" y="1429207"/>
            <a:ext cx="7429500" cy="57607"/>
          </a:xfrm>
          <a:prstGeom prst="roundRect">
            <a:avLst>
              <a:gd name="adj" fmla="val 49219"/>
            </a:avLst>
          </a:prstGeom>
          <a:solidFill>
            <a:srgbClr val="3B82F6"/>
          </a:solidFill>
          <a:ln w="12700">
            <a:solidFill>
              <a:srgbClr val="3B82F6">
                <a:alpha val="0"/>
              </a:srgbClr>
            </a:solidFill>
            <a:prstDash val="solid"/>
          </a:ln>
        </p:spPr>
        <p:txBody>
          <a:bodyPr/>
          <a:lstStyle/>
          <a:p>
            <a:endParaRPr lang="en-US"/>
          </a:p>
        </p:txBody>
      </p:sp>
      <p:sp>
        <p:nvSpPr>
          <p:cNvPr id="6" name="Shape 4"/>
          <p:cNvSpPr/>
          <p:nvPr/>
        </p:nvSpPr>
        <p:spPr>
          <a:xfrm>
            <a:off x="8001000" y="1429207"/>
            <a:ext cx="3810305" cy="4914900"/>
          </a:xfrm>
          <a:prstGeom prst="roundRect">
            <a:avLst>
              <a:gd name="adj" fmla="val 960"/>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8001000" y="1429207"/>
            <a:ext cx="3810305" cy="57607"/>
          </a:xfrm>
          <a:prstGeom prst="roundRect">
            <a:avLst>
              <a:gd name="adj" fmla="val 63492"/>
            </a:avLst>
          </a:prstGeom>
          <a:solidFill>
            <a:srgbClr val="1E293B"/>
          </a:solidFill>
          <a:ln w="12700">
            <a:solidFill>
              <a:srgbClr val="1E293B">
                <a:alpha val="0"/>
              </a:srgbClr>
            </a:solidFill>
            <a:prstDash val="solid"/>
          </a:ln>
        </p:spPr>
        <p:txBody>
          <a:bodyPr/>
          <a:lstStyle/>
          <a:p>
            <a:endParaRPr lang="en-US"/>
          </a:p>
        </p:txBody>
      </p:sp>
      <p:pic>
        <p:nvPicPr>
          <p:cNvPr id="8" name="Image 0" descr="preencoded.png"/>
          <p:cNvPicPr>
            <a:picLocks noChangeAspect="1"/>
          </p:cNvPicPr>
          <p:nvPr/>
        </p:nvPicPr>
        <p:blipFill>
          <a:blip r:embed="rId3"/>
          <a:srcRect t="-395" b="-395"/>
          <a:stretch/>
        </p:blipFill>
        <p:spPr>
          <a:xfrm>
            <a:off x="8287207" y="2095805"/>
            <a:ext cx="3238805" cy="19202"/>
          </a:xfrm>
          <a:prstGeom prst="rect">
            <a:avLst/>
          </a:prstGeom>
        </p:spPr>
      </p:pic>
      <p:sp>
        <p:nvSpPr>
          <p:cNvPr id="9" name="Text 6"/>
          <p:cNvSpPr txBox="1"/>
          <p:nvPr/>
        </p:nvSpPr>
        <p:spPr>
          <a:xfrm>
            <a:off x="381305" y="338040"/>
            <a:ext cx="11580876" cy="962863"/>
          </a:xfrm>
          <a:prstGeom prst="rect">
            <a:avLst/>
          </a:prstGeom>
          <a:noFill/>
          <a:ln/>
        </p:spPr>
        <p:txBody>
          <a:bodyPr wrap="square" lIns="0" tIns="0" rIns="0" bIns="0" rtlCol="0" anchor="ctr"/>
          <a:lstStyle/>
          <a:p>
            <a:pPr marL="0" indent="0" algn="l">
              <a:buNone/>
            </a:pPr>
            <a:r>
              <a:rPr lang="en-US" sz="3100" b="1" kern="0" spc="-37" dirty="0">
                <a:solidFill>
                  <a:srgbClr val="0F172A"/>
                </a:solidFill>
                <a:latin typeface="Montserrat" pitchFamily="34" charset="0"/>
                <a:ea typeface="Montserrat" pitchFamily="34" charset="-122"/>
                <a:cs typeface="Montserrat" pitchFamily="34" charset="-120"/>
              </a:rPr>
              <a:t>The "Flaw of Averages": </a:t>
            </a:r>
          </a:p>
          <a:p>
            <a:pPr marL="0" indent="0" algn="l">
              <a:buNone/>
            </a:pPr>
            <a:r>
              <a:rPr lang="en-US" sz="3100" b="1" kern="0" spc="-37" dirty="0">
                <a:solidFill>
                  <a:srgbClr val="3B82F6"/>
                </a:solidFill>
                <a:latin typeface="Montserrat" pitchFamily="34" charset="0"/>
                <a:ea typeface="Montserrat" pitchFamily="34" charset="-122"/>
                <a:cs typeface="Montserrat" pitchFamily="34" charset="-120"/>
              </a:rPr>
              <a:t>Why Theory Needs a Reality Check</a:t>
            </a:r>
            <a:endParaRPr lang="en-US" sz="3100" dirty="0"/>
          </a:p>
        </p:txBody>
      </p:sp>
      <p:pic>
        <p:nvPicPr>
          <p:cNvPr id="10" name="Image 1" descr="preencoded.png"/>
          <p:cNvPicPr>
            <a:picLocks noChangeAspect="1"/>
          </p:cNvPicPr>
          <p:nvPr/>
        </p:nvPicPr>
        <p:blipFill>
          <a:blip r:embed="rId4"/>
          <a:srcRect t="-4" b="-4"/>
          <a:stretch/>
        </p:blipFill>
        <p:spPr>
          <a:xfrm>
            <a:off x="571500" y="1619402"/>
            <a:ext cx="7048195" cy="4476902"/>
          </a:xfrm>
          <a:prstGeom prst="rect">
            <a:avLst/>
          </a:prstGeom>
        </p:spPr>
      </p:pic>
      <p:sp>
        <p:nvSpPr>
          <p:cNvPr id="11" name="Text 7"/>
          <p:cNvSpPr txBox="1"/>
          <p:nvPr/>
        </p:nvSpPr>
        <p:spPr>
          <a:xfrm>
            <a:off x="8287207" y="1714500"/>
            <a:ext cx="3353105" cy="257861"/>
          </a:xfrm>
          <a:prstGeom prst="rect">
            <a:avLst/>
          </a:prstGeom>
          <a:noFill/>
          <a:ln/>
        </p:spPr>
        <p:txBody>
          <a:bodyPr wrap="square" lIns="0" tIns="0" rIns="0" bIns="0" rtlCol="0" anchor="ctr"/>
          <a:lstStyle/>
          <a:p>
            <a:pPr marL="0" indent="0" algn="l">
              <a:buNone/>
            </a:pPr>
            <a:r>
              <a:rPr lang="en-US" sz="1600" b="1" kern="0" spc="38" dirty="0">
                <a:solidFill>
                  <a:srgbClr val="0F172A"/>
                </a:solidFill>
                <a:latin typeface="Montserrat" pitchFamily="34" charset="0"/>
                <a:ea typeface="Montserrat" pitchFamily="34" charset="-122"/>
                <a:cs typeface="Montserrat" pitchFamily="34" charset="-120"/>
              </a:rPr>
              <a:t>Model Limitations</a:t>
            </a:r>
            <a:endParaRPr lang="en-US" sz="1600" dirty="0"/>
          </a:p>
        </p:txBody>
      </p:sp>
      <p:pic>
        <p:nvPicPr>
          <p:cNvPr id="12" name="Image 2" descr="preencoded.png"/>
          <p:cNvPicPr>
            <a:picLocks noChangeAspect="1"/>
          </p:cNvPicPr>
          <p:nvPr/>
        </p:nvPicPr>
        <p:blipFill>
          <a:blip r:embed="rId5"/>
          <a:srcRect/>
          <a:stretch/>
        </p:blipFill>
        <p:spPr>
          <a:xfrm>
            <a:off x="8324698" y="2381098"/>
            <a:ext cx="228600" cy="228600"/>
          </a:xfrm>
          <a:prstGeom prst="rect">
            <a:avLst/>
          </a:prstGeom>
        </p:spPr>
      </p:pic>
      <p:sp>
        <p:nvSpPr>
          <p:cNvPr id="13" name="Text 8"/>
          <p:cNvSpPr txBox="1"/>
          <p:nvPr/>
        </p:nvSpPr>
        <p:spPr>
          <a:xfrm>
            <a:off x="8762695" y="2343607"/>
            <a:ext cx="2874874" cy="257861"/>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Optimizing for the Average</a:t>
            </a:r>
            <a:endParaRPr lang="en-US" sz="1300" dirty="0"/>
          </a:p>
        </p:txBody>
      </p:sp>
      <p:sp>
        <p:nvSpPr>
          <p:cNvPr id="14" name="Text 9"/>
          <p:cNvSpPr txBox="1"/>
          <p:nvPr/>
        </p:nvSpPr>
        <p:spPr>
          <a:xfrm>
            <a:off x="8762695" y="2638044"/>
            <a:ext cx="2839212" cy="685800"/>
          </a:xfrm>
          <a:prstGeom prst="rect">
            <a:avLst/>
          </a:prstGeom>
          <a:noFill/>
          <a:ln/>
        </p:spPr>
        <p:txBody>
          <a:bodyPr wrap="square" lIns="0" tIns="0" rIns="0" bIns="0" rtlCol="0" anchor="ctr"/>
          <a:lstStyle/>
          <a:p>
            <a:pPr marL="0" indent="0" algn="l">
              <a:buNone/>
            </a:pPr>
            <a:r>
              <a:rPr lang="en-US" sz="1200" dirty="0">
                <a:solidFill>
                  <a:srgbClr val="64748B"/>
                </a:solidFill>
                <a:latin typeface="Open Sans" pitchFamily="34" charset="0"/>
                <a:ea typeface="Open Sans" pitchFamily="34" charset="-122"/>
                <a:cs typeface="Open Sans" pitchFamily="34" charset="-120"/>
              </a:rPr>
              <a:t>MILP is deterministic; it creates an optimal schedule based on the expected average demand.</a:t>
            </a:r>
            <a:endParaRPr lang="en-US" sz="1200" dirty="0"/>
          </a:p>
        </p:txBody>
      </p:sp>
      <p:pic>
        <p:nvPicPr>
          <p:cNvPr id="15" name="Image 3" descr="preencoded.png"/>
          <p:cNvPicPr>
            <a:picLocks noChangeAspect="1"/>
          </p:cNvPicPr>
          <p:nvPr/>
        </p:nvPicPr>
        <p:blipFill>
          <a:blip r:embed="rId6"/>
          <a:srcRect l="-57" r="-57"/>
          <a:stretch/>
        </p:blipFill>
        <p:spPr>
          <a:xfrm>
            <a:off x="8339328" y="3429000"/>
            <a:ext cx="200254" cy="228600"/>
          </a:xfrm>
          <a:prstGeom prst="rect">
            <a:avLst/>
          </a:prstGeom>
        </p:spPr>
      </p:pic>
      <p:sp>
        <p:nvSpPr>
          <p:cNvPr id="16" name="Text 10"/>
          <p:cNvSpPr txBox="1"/>
          <p:nvPr/>
        </p:nvSpPr>
        <p:spPr>
          <a:xfrm>
            <a:off x="8762695" y="3390595"/>
            <a:ext cx="2874874" cy="257861"/>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High Real-World Volatility</a:t>
            </a:r>
            <a:endParaRPr lang="en-US" sz="1300" dirty="0"/>
          </a:p>
        </p:txBody>
      </p:sp>
      <p:sp>
        <p:nvSpPr>
          <p:cNvPr id="17" name="Text 11"/>
          <p:cNvSpPr txBox="1"/>
          <p:nvPr/>
        </p:nvSpPr>
        <p:spPr>
          <a:xfrm>
            <a:off x="8762695" y="3685946"/>
            <a:ext cx="2839212" cy="914400"/>
          </a:xfrm>
          <a:prstGeom prst="rect">
            <a:avLst/>
          </a:prstGeom>
          <a:noFill/>
          <a:ln/>
        </p:spPr>
        <p:txBody>
          <a:bodyPr wrap="square" lIns="0" tIns="0" rIns="0" bIns="0" rtlCol="0" anchor="ctr"/>
          <a:lstStyle/>
          <a:p>
            <a:pPr marL="0" indent="0" algn="l">
              <a:buNone/>
            </a:pPr>
            <a:r>
              <a:rPr lang="en-US" sz="1200" dirty="0">
                <a:solidFill>
                  <a:srgbClr val="64748B"/>
                </a:solidFill>
                <a:latin typeface="Open Sans" pitchFamily="34" charset="0"/>
                <a:ea typeface="Open Sans" pitchFamily="34" charset="-122"/>
                <a:cs typeface="Open Sans" pitchFamily="34" charset="-120"/>
              </a:rPr>
              <a:t>Real-World demand does not follow</a:t>
            </a:r>
          </a:p>
          <a:p>
            <a:pPr marL="0" indent="0" algn="l">
              <a:buNone/>
            </a:pPr>
            <a:r>
              <a:rPr lang="en-US" sz="1200" dirty="0">
                <a:solidFill>
                  <a:srgbClr val="64748B"/>
                </a:solidFill>
                <a:latin typeface="Open Sans" pitchFamily="34" charset="0"/>
                <a:ea typeface="Open Sans" pitchFamily="34" charset="-122"/>
                <a:cs typeface="Open Sans" pitchFamily="34" charset="-120"/>
              </a:rPr>
              <a:t>averages. Extreme freezes cause</a:t>
            </a:r>
          </a:p>
          <a:p>
            <a:pPr marL="0" indent="0" algn="l">
              <a:buNone/>
            </a:pPr>
            <a:r>
              <a:rPr lang="en-US" sz="1200" dirty="0">
                <a:solidFill>
                  <a:srgbClr val="64748B"/>
                </a:solidFill>
                <a:latin typeface="Open Sans" pitchFamily="34" charset="0"/>
                <a:ea typeface="Open Sans" pitchFamily="34" charset="-122"/>
                <a:cs typeface="Open Sans" pitchFamily="34" charset="-120"/>
              </a:rPr>
              <a:t>unpredictable, catastrophic surges in</a:t>
            </a:r>
          </a:p>
          <a:p>
            <a:pPr marL="0" indent="0" algn="l">
              <a:buNone/>
            </a:pPr>
            <a:r>
              <a:rPr lang="en-US" sz="1200" dirty="0">
                <a:solidFill>
                  <a:srgbClr val="64748B"/>
                </a:solidFill>
                <a:latin typeface="Open Sans" pitchFamily="34" charset="0"/>
                <a:ea typeface="Open Sans" pitchFamily="34" charset="-122"/>
                <a:cs typeface="Open Sans" pitchFamily="34" charset="-120"/>
              </a:rPr>
              <a:t>nightly demand.​</a:t>
            </a:r>
            <a:endParaRPr lang="en-US" sz="1200" dirty="0"/>
          </a:p>
        </p:txBody>
      </p:sp>
      <p:pic>
        <p:nvPicPr>
          <p:cNvPr id="18" name="Image 4" descr="preencoded.png"/>
          <p:cNvPicPr>
            <a:picLocks noChangeAspect="1"/>
          </p:cNvPicPr>
          <p:nvPr/>
        </p:nvPicPr>
        <p:blipFill>
          <a:blip r:embed="rId7"/>
          <a:srcRect/>
          <a:stretch/>
        </p:blipFill>
        <p:spPr>
          <a:xfrm>
            <a:off x="8324698" y="4667098"/>
            <a:ext cx="228600" cy="228600"/>
          </a:xfrm>
          <a:prstGeom prst="rect">
            <a:avLst/>
          </a:prstGeom>
        </p:spPr>
      </p:pic>
      <p:sp>
        <p:nvSpPr>
          <p:cNvPr id="19" name="Text 12"/>
          <p:cNvSpPr txBox="1"/>
          <p:nvPr/>
        </p:nvSpPr>
        <p:spPr>
          <a:xfrm>
            <a:off x="8762695" y="4629607"/>
            <a:ext cx="2980944" cy="257861"/>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The Need for Stress-Testing</a:t>
            </a:r>
            <a:endParaRPr lang="en-US" sz="1300" dirty="0"/>
          </a:p>
        </p:txBody>
      </p:sp>
      <p:sp>
        <p:nvSpPr>
          <p:cNvPr id="20" name="Text 13"/>
          <p:cNvSpPr txBox="1"/>
          <p:nvPr/>
        </p:nvSpPr>
        <p:spPr>
          <a:xfrm>
            <a:off x="8762695" y="4924044"/>
            <a:ext cx="2839212" cy="685800"/>
          </a:xfrm>
          <a:prstGeom prst="rect">
            <a:avLst/>
          </a:prstGeom>
          <a:noFill/>
          <a:ln/>
        </p:spPr>
        <p:txBody>
          <a:bodyPr wrap="square" lIns="0" tIns="0" rIns="0" bIns="0" rtlCol="0" anchor="ctr"/>
          <a:lstStyle/>
          <a:p>
            <a:pPr marL="0" indent="0" algn="l">
              <a:buNone/>
            </a:pPr>
            <a:r>
              <a:rPr lang="en-US" sz="1200" dirty="0">
                <a:solidFill>
                  <a:srgbClr val="64748B"/>
                </a:solidFill>
                <a:latin typeface="Open Sans" pitchFamily="34" charset="0"/>
                <a:ea typeface="Open Sans" pitchFamily="34" charset="-122"/>
                <a:cs typeface="Open Sans" pitchFamily="34" charset="-120"/>
              </a:rPr>
              <a:t>We must simulate this static schedule against unpredictable dynamic chaos to find its breaking point.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4" name="Shape 2"/>
          <p:cNvSpPr/>
          <p:nvPr/>
        </p:nvSpPr>
        <p:spPr>
          <a:xfrm>
            <a:off x="571500" y="1429207"/>
            <a:ext cx="7048195" cy="4914900"/>
          </a:xfrm>
          <a:prstGeom prst="roundRect">
            <a:avLst>
              <a:gd name="adj" fmla="val 577"/>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5" name="Shape 3"/>
          <p:cNvSpPr/>
          <p:nvPr/>
        </p:nvSpPr>
        <p:spPr>
          <a:xfrm>
            <a:off x="571500" y="1429207"/>
            <a:ext cx="7048195" cy="57607"/>
          </a:xfrm>
          <a:prstGeom prst="roundRect">
            <a:avLst>
              <a:gd name="adj" fmla="val 49219"/>
            </a:avLst>
          </a:prstGeom>
          <a:solidFill>
            <a:srgbClr val="3B82F6"/>
          </a:solidFill>
          <a:ln w="12700">
            <a:solidFill>
              <a:srgbClr val="3B82F6">
                <a:alpha val="0"/>
              </a:srgbClr>
            </a:solidFill>
            <a:prstDash val="solid"/>
          </a:ln>
        </p:spPr>
        <p:txBody>
          <a:bodyPr/>
          <a:lstStyle/>
          <a:p>
            <a:endParaRPr lang="en-US"/>
          </a:p>
        </p:txBody>
      </p:sp>
      <p:sp>
        <p:nvSpPr>
          <p:cNvPr id="6" name="Shape 4"/>
          <p:cNvSpPr/>
          <p:nvPr/>
        </p:nvSpPr>
        <p:spPr>
          <a:xfrm>
            <a:off x="7905902" y="1429207"/>
            <a:ext cx="3715207" cy="4914900"/>
          </a:xfrm>
          <a:prstGeom prst="roundRect">
            <a:avLst>
              <a:gd name="adj" fmla="val 1010"/>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7905902" y="1429207"/>
            <a:ext cx="3715207" cy="57607"/>
          </a:xfrm>
          <a:prstGeom prst="roundRect">
            <a:avLst>
              <a:gd name="adj" fmla="val 65120"/>
            </a:avLst>
          </a:prstGeom>
          <a:solidFill>
            <a:srgbClr val="1E293B"/>
          </a:solidFill>
          <a:ln w="12700">
            <a:solidFill>
              <a:srgbClr val="1E293B">
                <a:alpha val="0"/>
              </a:srgbClr>
            </a:solidFill>
            <a:prstDash val="solid"/>
          </a:ln>
        </p:spPr>
        <p:txBody>
          <a:bodyPr/>
          <a:lstStyle/>
          <a:p>
            <a:endParaRPr lang="en-US"/>
          </a:p>
        </p:txBody>
      </p:sp>
      <p:pic>
        <p:nvPicPr>
          <p:cNvPr id="8" name="Image 0" descr="preencoded.png"/>
          <p:cNvPicPr>
            <a:picLocks noChangeAspect="1"/>
          </p:cNvPicPr>
          <p:nvPr/>
        </p:nvPicPr>
        <p:blipFill>
          <a:blip r:embed="rId3"/>
          <a:srcRect t="-393" b="-393"/>
          <a:stretch/>
        </p:blipFill>
        <p:spPr>
          <a:xfrm>
            <a:off x="8191195" y="2095805"/>
            <a:ext cx="3143707" cy="19202"/>
          </a:xfrm>
          <a:prstGeom prst="rect">
            <a:avLst/>
          </a:prstGeom>
        </p:spPr>
      </p:pic>
      <p:sp>
        <p:nvSpPr>
          <p:cNvPr id="9" name="Text 6"/>
          <p:cNvSpPr txBox="1"/>
          <p:nvPr/>
        </p:nvSpPr>
        <p:spPr>
          <a:xfrm>
            <a:off x="481263" y="566470"/>
            <a:ext cx="11872570" cy="486461"/>
          </a:xfrm>
          <a:prstGeom prst="rect">
            <a:avLst/>
          </a:prstGeom>
          <a:noFill/>
          <a:ln/>
        </p:spPr>
        <p:txBody>
          <a:bodyPr wrap="square" lIns="0" tIns="0" rIns="0" bIns="0" rtlCol="0" anchor="ctr"/>
          <a:lstStyle/>
          <a:p>
            <a:pPr marL="0" indent="0" algn="l">
              <a:buNone/>
            </a:pPr>
            <a:r>
              <a:rPr lang="en-US" sz="3100" b="1" kern="0" spc="-37" dirty="0">
                <a:solidFill>
                  <a:srgbClr val="0F172A"/>
                </a:solidFill>
                <a:latin typeface="Montserrat" pitchFamily="34" charset="0"/>
                <a:ea typeface="Montserrat" pitchFamily="34" charset="-122"/>
                <a:cs typeface="Montserrat" pitchFamily="34" charset="-120"/>
              </a:rPr>
              <a:t>Stage 3: </a:t>
            </a:r>
            <a:r>
              <a:rPr lang="en-US" sz="3100" b="1" kern="0" spc="-37" dirty="0">
                <a:solidFill>
                  <a:srgbClr val="3B82F6"/>
                </a:solidFill>
                <a:latin typeface="Montserrat" pitchFamily="34" charset="0"/>
                <a:ea typeface="Montserrat" pitchFamily="34" charset="-122"/>
                <a:cs typeface="Montserrat" pitchFamily="34" charset="-120"/>
              </a:rPr>
              <a:t>MILP Dominates "Gut-Feeling" Allocation</a:t>
            </a:r>
            <a:endParaRPr lang="en-US" sz="3100" dirty="0"/>
          </a:p>
        </p:txBody>
      </p:sp>
      <p:sp>
        <p:nvSpPr>
          <p:cNvPr id="11" name="Text 7"/>
          <p:cNvSpPr txBox="1"/>
          <p:nvPr/>
        </p:nvSpPr>
        <p:spPr>
          <a:xfrm>
            <a:off x="8191195" y="1714500"/>
            <a:ext cx="3258007" cy="257861"/>
          </a:xfrm>
          <a:prstGeom prst="rect">
            <a:avLst/>
          </a:prstGeom>
          <a:noFill/>
          <a:ln/>
        </p:spPr>
        <p:txBody>
          <a:bodyPr wrap="square" lIns="0" tIns="0" rIns="0" bIns="0" rtlCol="0" anchor="ctr"/>
          <a:lstStyle/>
          <a:p>
            <a:pPr marL="0" indent="0" algn="l">
              <a:buNone/>
            </a:pPr>
            <a:r>
              <a:rPr lang="en-US" sz="1600" b="1" kern="0" spc="38" dirty="0">
                <a:solidFill>
                  <a:srgbClr val="0F172A"/>
                </a:solidFill>
                <a:latin typeface="Montserrat" pitchFamily="34" charset="0"/>
                <a:ea typeface="Montserrat" pitchFamily="34" charset="-122"/>
                <a:cs typeface="Montserrat" pitchFamily="34" charset="-120"/>
              </a:rPr>
              <a:t>Stress Test Insights</a:t>
            </a:r>
            <a:endParaRPr lang="en-US" sz="1600" dirty="0"/>
          </a:p>
        </p:txBody>
      </p:sp>
      <p:pic>
        <p:nvPicPr>
          <p:cNvPr id="12" name="Image 2" descr="preencoded.png"/>
          <p:cNvPicPr>
            <a:picLocks noChangeAspect="1"/>
          </p:cNvPicPr>
          <p:nvPr/>
        </p:nvPicPr>
        <p:blipFill>
          <a:blip r:embed="rId4"/>
          <a:srcRect/>
          <a:stretch/>
        </p:blipFill>
        <p:spPr>
          <a:xfrm>
            <a:off x="8229600" y="2381098"/>
            <a:ext cx="228600" cy="228600"/>
          </a:xfrm>
          <a:prstGeom prst="rect">
            <a:avLst/>
          </a:prstGeom>
        </p:spPr>
      </p:pic>
      <p:sp>
        <p:nvSpPr>
          <p:cNvPr id="13" name="Text 8"/>
          <p:cNvSpPr txBox="1"/>
          <p:nvPr/>
        </p:nvSpPr>
        <p:spPr>
          <a:xfrm>
            <a:off x="8667598" y="2343607"/>
            <a:ext cx="2977286" cy="257861"/>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5,000-Iteration Stress Test</a:t>
            </a:r>
            <a:endParaRPr lang="en-US" sz="1300" dirty="0"/>
          </a:p>
        </p:txBody>
      </p:sp>
      <p:sp>
        <p:nvSpPr>
          <p:cNvPr id="14" name="Text 9"/>
          <p:cNvSpPr txBox="1"/>
          <p:nvPr/>
        </p:nvSpPr>
        <p:spPr>
          <a:xfrm>
            <a:off x="8667598" y="2638044"/>
            <a:ext cx="2743200" cy="685800"/>
          </a:xfrm>
          <a:prstGeom prst="rect">
            <a:avLst/>
          </a:prstGeom>
          <a:noFill/>
          <a:ln/>
        </p:spPr>
        <p:txBody>
          <a:bodyPr wrap="square" lIns="0" tIns="0" rIns="0" bIns="0" rtlCol="0" anchor="ctr"/>
          <a:lstStyle/>
          <a:p>
            <a:pPr marL="0" indent="0" algn="l">
              <a:buNone/>
            </a:pPr>
            <a:r>
              <a:rPr lang="en-US" sz="1200" dirty="0">
                <a:solidFill>
                  <a:srgbClr val="64748B"/>
                </a:solidFill>
                <a:latin typeface="Open Sans" pitchFamily="34" charset="0"/>
                <a:ea typeface="Open Sans" pitchFamily="34" charset="-122"/>
                <a:cs typeface="Open Sans" pitchFamily="34" charset="-120"/>
              </a:rPr>
              <a:t>Robust Monte Carlo simulation</a:t>
            </a:r>
          </a:p>
          <a:p>
            <a:pPr marL="0" indent="0" algn="l">
              <a:buNone/>
            </a:pPr>
            <a:r>
              <a:rPr lang="en-US" sz="1200" dirty="0">
                <a:solidFill>
                  <a:srgbClr val="64748B"/>
                </a:solidFill>
                <a:latin typeface="Open Sans" pitchFamily="34" charset="0"/>
                <a:ea typeface="Open Sans" pitchFamily="34" charset="-122"/>
                <a:cs typeface="Open Sans" pitchFamily="34" charset="-120"/>
              </a:rPr>
              <a:t>simulating highly volatile and dynamic</a:t>
            </a:r>
          </a:p>
          <a:p>
            <a:pPr marL="0" indent="0" algn="l">
              <a:buNone/>
            </a:pPr>
            <a:r>
              <a:rPr lang="en-US" sz="1200" dirty="0">
                <a:solidFill>
                  <a:srgbClr val="64748B"/>
                </a:solidFill>
                <a:latin typeface="Open Sans" pitchFamily="34" charset="0"/>
                <a:ea typeface="Open Sans" pitchFamily="34" charset="-122"/>
                <a:cs typeface="Open Sans" pitchFamily="34" charset="-120"/>
              </a:rPr>
              <a:t>scenarios.​</a:t>
            </a:r>
            <a:endParaRPr lang="en-US" sz="1200" dirty="0"/>
          </a:p>
        </p:txBody>
      </p:sp>
      <p:pic>
        <p:nvPicPr>
          <p:cNvPr id="15" name="Image 3" descr="preencoded.png"/>
          <p:cNvPicPr>
            <a:picLocks noChangeAspect="1"/>
          </p:cNvPicPr>
          <p:nvPr/>
        </p:nvPicPr>
        <p:blipFill>
          <a:blip r:embed="rId5"/>
          <a:srcRect l="-57" r="-57"/>
          <a:stretch/>
        </p:blipFill>
        <p:spPr>
          <a:xfrm>
            <a:off x="8244230" y="3429000"/>
            <a:ext cx="200254" cy="228600"/>
          </a:xfrm>
          <a:prstGeom prst="rect">
            <a:avLst/>
          </a:prstGeom>
        </p:spPr>
      </p:pic>
      <p:sp>
        <p:nvSpPr>
          <p:cNvPr id="16" name="Text 10"/>
          <p:cNvSpPr txBox="1"/>
          <p:nvPr/>
        </p:nvSpPr>
        <p:spPr>
          <a:xfrm>
            <a:off x="8667598" y="3390595"/>
            <a:ext cx="2774290" cy="257861"/>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Locked Budget Constraints</a:t>
            </a:r>
            <a:endParaRPr lang="en-US" sz="1300" dirty="0"/>
          </a:p>
        </p:txBody>
      </p:sp>
      <p:sp>
        <p:nvSpPr>
          <p:cNvPr id="17" name="Text 11"/>
          <p:cNvSpPr txBox="1"/>
          <p:nvPr/>
        </p:nvSpPr>
        <p:spPr>
          <a:xfrm>
            <a:off x="8667598" y="3685946"/>
            <a:ext cx="2743200" cy="685800"/>
          </a:xfrm>
          <a:prstGeom prst="rect">
            <a:avLst/>
          </a:prstGeom>
          <a:noFill/>
          <a:ln/>
        </p:spPr>
        <p:txBody>
          <a:bodyPr wrap="square" lIns="0" tIns="0" rIns="0" bIns="0" rtlCol="0" anchor="ctr"/>
          <a:lstStyle/>
          <a:p>
            <a:pPr marL="0" indent="0" algn="l">
              <a:buNone/>
            </a:pPr>
            <a:r>
              <a:rPr lang="en-US" sz="1200" dirty="0">
                <a:solidFill>
                  <a:srgbClr val="64748B"/>
                </a:solidFill>
                <a:latin typeface="Open Sans" pitchFamily="34" charset="0"/>
                <a:ea typeface="Open Sans" pitchFamily="34" charset="-122"/>
                <a:cs typeface="Open Sans" pitchFamily="34" charset="-120"/>
              </a:rPr>
              <a:t>Total budget strictly locked across all 3 benchmark policies: </a:t>
            </a:r>
          </a:p>
          <a:p>
            <a:pPr marL="0" indent="0" algn="l">
              <a:buNone/>
            </a:pPr>
            <a:r>
              <a:rPr lang="en-US" sz="1200" dirty="0">
                <a:solidFill>
                  <a:srgbClr val="64748B"/>
                </a:solidFill>
                <a:latin typeface="Open Sans" pitchFamily="34" charset="0"/>
                <a:ea typeface="Open Sans" pitchFamily="34" charset="-122"/>
                <a:cs typeface="Open Sans" pitchFamily="34" charset="-120"/>
              </a:rPr>
              <a:t>(Safety Buffer, Proportional, MILP).</a:t>
            </a:r>
            <a:endParaRPr lang="en-US" sz="1200" dirty="0"/>
          </a:p>
        </p:txBody>
      </p:sp>
      <p:pic>
        <p:nvPicPr>
          <p:cNvPr id="18" name="Image 4" descr="preencoded.png"/>
          <p:cNvPicPr>
            <a:picLocks noChangeAspect="1"/>
          </p:cNvPicPr>
          <p:nvPr/>
        </p:nvPicPr>
        <p:blipFill>
          <a:blip r:embed="rId6"/>
          <a:srcRect t="-45" b="-45"/>
          <a:stretch/>
        </p:blipFill>
        <p:spPr>
          <a:xfrm>
            <a:off x="8214970" y="4476902"/>
            <a:ext cx="256946" cy="228600"/>
          </a:xfrm>
          <a:prstGeom prst="rect">
            <a:avLst/>
          </a:prstGeom>
        </p:spPr>
      </p:pic>
      <p:sp>
        <p:nvSpPr>
          <p:cNvPr id="19" name="Text 12"/>
          <p:cNvSpPr txBox="1"/>
          <p:nvPr/>
        </p:nvSpPr>
        <p:spPr>
          <a:xfrm>
            <a:off x="8667598" y="4438498"/>
            <a:ext cx="2774290" cy="257861"/>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Winner: MILP</a:t>
            </a:r>
            <a:endParaRPr lang="en-US" sz="1300" dirty="0"/>
          </a:p>
        </p:txBody>
      </p:sp>
      <p:sp>
        <p:nvSpPr>
          <p:cNvPr id="20" name="Text 13"/>
          <p:cNvSpPr txBox="1"/>
          <p:nvPr/>
        </p:nvSpPr>
        <p:spPr>
          <a:xfrm>
            <a:off x="8667598" y="4733849"/>
            <a:ext cx="2743200" cy="685800"/>
          </a:xfrm>
          <a:prstGeom prst="rect">
            <a:avLst/>
          </a:prstGeom>
          <a:noFill/>
          <a:ln/>
        </p:spPr>
        <p:txBody>
          <a:bodyPr wrap="square" lIns="0" tIns="0" rIns="0" bIns="0" rtlCol="0" anchor="ctr"/>
          <a:lstStyle/>
          <a:p>
            <a:pPr marL="0" indent="0" algn="l">
              <a:buNone/>
            </a:pPr>
            <a:r>
              <a:rPr lang="en-US" sz="1200" dirty="0">
                <a:solidFill>
                  <a:srgbClr val="64748B"/>
                </a:solidFill>
                <a:latin typeface="Open Sans" pitchFamily="34" charset="0"/>
                <a:ea typeface="Open Sans" pitchFamily="34" charset="-122"/>
                <a:cs typeface="Open Sans" pitchFamily="34" charset="-120"/>
              </a:rPr>
              <a:t>Proportional allocation is dangerous;</a:t>
            </a:r>
          </a:p>
          <a:p>
            <a:pPr marL="0" indent="0" algn="l">
              <a:buNone/>
            </a:pPr>
            <a:r>
              <a:rPr lang="en-US" sz="1200" dirty="0">
                <a:solidFill>
                  <a:srgbClr val="64748B"/>
                </a:solidFill>
                <a:latin typeface="Open Sans" pitchFamily="34" charset="0"/>
                <a:ea typeface="Open Sans" pitchFamily="34" charset="-122"/>
                <a:cs typeface="Open Sans" pitchFamily="34" charset="-120"/>
              </a:rPr>
              <a:t>MILP minimizes </a:t>
            </a:r>
            <a:r>
              <a:rPr lang="en-CA" altLang="zh-CN" sz="1200" dirty="0">
                <a:solidFill>
                  <a:srgbClr val="64748B"/>
                </a:solidFill>
                <a:latin typeface="Open Sans" pitchFamily="34" charset="0"/>
                <a:ea typeface="Open Sans" pitchFamily="34" charset="-122"/>
                <a:cs typeface="Open Sans" pitchFamily="34" charset="-120"/>
              </a:rPr>
              <a:t>r</a:t>
            </a:r>
            <a:r>
              <a:rPr lang="en-US" sz="1200" dirty="0">
                <a:solidFill>
                  <a:srgbClr val="64748B"/>
                </a:solidFill>
                <a:latin typeface="Open Sans" pitchFamily="34" charset="0"/>
                <a:ea typeface="Open Sans" pitchFamily="34" charset="-122"/>
                <a:cs typeface="Open Sans" pitchFamily="34" charset="-120"/>
              </a:rPr>
              <a:t>ejections during uncertain scenarios.​</a:t>
            </a:r>
            <a:endParaRPr lang="en-US" sz="1200" dirty="0"/>
          </a:p>
        </p:txBody>
      </p:sp>
      <p:pic>
        <p:nvPicPr>
          <p:cNvPr id="24" name="Picture 23">
            <a:extLst>
              <a:ext uri="{FF2B5EF4-FFF2-40B4-BE49-F238E27FC236}">
                <a16:creationId xmlns:a16="http://schemas.microsoft.com/office/drawing/2014/main" id="{E0A4504E-694A-01AC-7A5E-95A9EB6CB1AC}"/>
              </a:ext>
            </a:extLst>
          </p:cNvPr>
          <p:cNvPicPr>
            <a:picLocks noChangeAspect="1"/>
          </p:cNvPicPr>
          <p:nvPr/>
        </p:nvPicPr>
        <p:blipFill>
          <a:blip r:embed="rId7"/>
          <a:stretch>
            <a:fillRect/>
          </a:stretch>
        </p:blipFill>
        <p:spPr>
          <a:xfrm>
            <a:off x="697139" y="1748622"/>
            <a:ext cx="6862502" cy="44144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t="-6" b="-6"/>
          <a:stretch/>
        </p:blipFill>
        <p:spPr>
          <a:xfrm>
            <a:off x="571500" y="1238098"/>
            <a:ext cx="11162995" cy="3238805"/>
          </a:xfrm>
          <a:prstGeom prst="rect">
            <a:avLst/>
          </a:prstGeom>
        </p:spPr>
      </p:pic>
      <p:sp>
        <p:nvSpPr>
          <p:cNvPr id="5" name="Shape 2"/>
          <p:cNvSpPr/>
          <p:nvPr/>
        </p:nvSpPr>
        <p:spPr>
          <a:xfrm>
            <a:off x="1333195" y="1714500"/>
            <a:ext cx="2361895" cy="2361895"/>
          </a:xfrm>
          <a:prstGeom prst="ellipse">
            <a:avLst/>
          </a:prstGeom>
          <a:solidFill>
            <a:srgbClr val="EF4444">
              <a:alpha val="10000"/>
            </a:srgbClr>
          </a:solidFill>
          <a:ln w="50800">
            <a:solidFill>
              <a:srgbClr val="EF4444"/>
            </a:solidFill>
            <a:prstDash val="solid"/>
          </a:ln>
        </p:spPr>
        <p:txBody>
          <a:bodyPr/>
          <a:lstStyle/>
          <a:p>
            <a:endParaRPr lang="en-US"/>
          </a:p>
        </p:txBody>
      </p:sp>
      <p:sp>
        <p:nvSpPr>
          <p:cNvPr id="6" name="Shape 3"/>
          <p:cNvSpPr/>
          <p:nvPr/>
        </p:nvSpPr>
        <p:spPr>
          <a:xfrm>
            <a:off x="571500" y="4858207"/>
            <a:ext cx="5391302" cy="1238098"/>
          </a:xfrm>
          <a:prstGeom prst="roundRect">
            <a:avLst>
              <a:gd name="adj" fmla="val 9090"/>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7" name="Shape 4"/>
          <p:cNvSpPr/>
          <p:nvPr/>
        </p:nvSpPr>
        <p:spPr>
          <a:xfrm>
            <a:off x="571500" y="4858207"/>
            <a:ext cx="57607" cy="1238098"/>
          </a:xfrm>
          <a:prstGeom prst="roundRect">
            <a:avLst>
              <a:gd name="adj" fmla="val 195361"/>
            </a:avLst>
          </a:prstGeom>
          <a:solidFill>
            <a:srgbClr val="F59E0B"/>
          </a:solidFill>
          <a:ln w="12700">
            <a:solidFill>
              <a:srgbClr val="F59E0B">
                <a:alpha val="0"/>
              </a:srgbClr>
            </a:solidFill>
            <a:prstDash val="solid"/>
          </a:ln>
        </p:spPr>
        <p:txBody>
          <a:bodyPr/>
          <a:lstStyle/>
          <a:p>
            <a:endParaRPr lang="en-US"/>
          </a:p>
        </p:txBody>
      </p:sp>
      <p:sp>
        <p:nvSpPr>
          <p:cNvPr id="8" name="Shape 5"/>
          <p:cNvSpPr/>
          <p:nvPr/>
        </p:nvSpPr>
        <p:spPr>
          <a:xfrm>
            <a:off x="6286500" y="4858207"/>
            <a:ext cx="5391302" cy="1238098"/>
          </a:xfrm>
          <a:prstGeom prst="roundRect">
            <a:avLst>
              <a:gd name="adj" fmla="val 9090"/>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9" name="Shape 6"/>
          <p:cNvSpPr/>
          <p:nvPr/>
        </p:nvSpPr>
        <p:spPr>
          <a:xfrm>
            <a:off x="6286500" y="4858207"/>
            <a:ext cx="57607" cy="1238098"/>
          </a:xfrm>
          <a:prstGeom prst="roundRect">
            <a:avLst>
              <a:gd name="adj" fmla="val 195361"/>
            </a:avLst>
          </a:prstGeom>
          <a:solidFill>
            <a:srgbClr val="3B82F6"/>
          </a:solidFill>
          <a:ln w="12700">
            <a:solidFill>
              <a:srgbClr val="3B82F6">
                <a:alpha val="0"/>
              </a:srgbClr>
            </a:solidFill>
            <a:prstDash val="solid"/>
          </a:ln>
        </p:spPr>
        <p:txBody>
          <a:bodyPr/>
          <a:lstStyle/>
          <a:p>
            <a:endParaRPr lang="en-US"/>
          </a:p>
        </p:txBody>
      </p:sp>
      <p:sp>
        <p:nvSpPr>
          <p:cNvPr id="10" name="Text 7"/>
          <p:cNvSpPr txBox="1"/>
          <p:nvPr/>
        </p:nvSpPr>
        <p:spPr>
          <a:xfrm>
            <a:off x="571500" y="381305"/>
            <a:ext cx="12602261" cy="486461"/>
          </a:xfrm>
          <a:prstGeom prst="rect">
            <a:avLst/>
          </a:prstGeom>
          <a:noFill/>
          <a:ln/>
        </p:spPr>
        <p:txBody>
          <a:bodyPr wrap="square" lIns="0" tIns="0" rIns="0" bIns="0" rtlCol="0" anchor="ctr"/>
          <a:lstStyle/>
          <a:p>
            <a:pPr marL="0" indent="0" algn="l">
              <a:buNone/>
            </a:pPr>
            <a:r>
              <a:rPr lang="en-US" sz="3100" b="1" kern="0" spc="-37" dirty="0">
                <a:solidFill>
                  <a:srgbClr val="0F172A"/>
                </a:solidFill>
                <a:latin typeface="Montserrat" pitchFamily="34" charset="0"/>
                <a:ea typeface="Montserrat" pitchFamily="34" charset="-122"/>
                <a:cs typeface="Montserrat" pitchFamily="34" charset="-120"/>
              </a:rPr>
              <a:t>The Real Bottleneck: </a:t>
            </a:r>
            <a:r>
              <a:rPr lang="en-US" sz="3100" b="1" kern="0" spc="-37" dirty="0">
                <a:solidFill>
                  <a:srgbClr val="EF4444"/>
                </a:solidFill>
                <a:latin typeface="Montserrat" pitchFamily="34" charset="0"/>
                <a:ea typeface="Montserrat" pitchFamily="34" charset="-122"/>
                <a:cs typeface="Montserrat" pitchFamily="34" charset="-120"/>
              </a:rPr>
              <a:t>Infrastructure: Beds</a:t>
            </a:r>
            <a:endParaRPr lang="en-US" sz="3100" dirty="0"/>
          </a:p>
        </p:txBody>
      </p:sp>
      <p:pic>
        <p:nvPicPr>
          <p:cNvPr id="11" name="Image 1" descr="preencoded.png"/>
          <p:cNvPicPr>
            <a:picLocks noChangeAspect="1"/>
          </p:cNvPicPr>
          <p:nvPr/>
        </p:nvPicPr>
        <p:blipFill>
          <a:blip r:embed="rId4"/>
          <a:srcRect l="-192" r="-192"/>
          <a:stretch/>
        </p:blipFill>
        <p:spPr>
          <a:xfrm>
            <a:off x="1938528" y="2095805"/>
            <a:ext cx="1076249" cy="857707"/>
          </a:xfrm>
          <a:prstGeom prst="rect">
            <a:avLst/>
          </a:prstGeom>
        </p:spPr>
      </p:pic>
      <p:sp>
        <p:nvSpPr>
          <p:cNvPr id="12" name="Text 8"/>
          <p:cNvSpPr txBox="1"/>
          <p:nvPr/>
        </p:nvSpPr>
        <p:spPr>
          <a:xfrm>
            <a:off x="1287475" y="3191256"/>
            <a:ext cx="2377440" cy="305410"/>
          </a:xfrm>
          <a:prstGeom prst="rect">
            <a:avLst/>
          </a:prstGeom>
          <a:noFill/>
          <a:ln/>
        </p:spPr>
        <p:txBody>
          <a:bodyPr wrap="square" lIns="0" tIns="0" rIns="0" bIns="0" rtlCol="0" anchor="ctr"/>
          <a:lstStyle/>
          <a:p>
            <a:pPr marL="0" indent="0" algn="ctr">
              <a:buNone/>
            </a:pPr>
            <a:r>
              <a:rPr lang="en-US" sz="1900" b="1" kern="0" spc="75" dirty="0">
                <a:solidFill>
                  <a:srgbClr val="EF4444"/>
                </a:solidFill>
                <a:latin typeface="Montserrat" pitchFamily="34" charset="0"/>
                <a:ea typeface="Montserrat" pitchFamily="34" charset="-122"/>
                <a:cs typeface="Montserrat" pitchFamily="34" charset="-120"/>
              </a:rPr>
              <a:t>100% MAXED</a:t>
            </a:r>
            <a:endParaRPr lang="en-US" sz="1900" dirty="0"/>
          </a:p>
        </p:txBody>
      </p:sp>
      <p:sp>
        <p:nvSpPr>
          <p:cNvPr id="13" name="Text 9"/>
          <p:cNvSpPr txBox="1"/>
          <p:nvPr/>
        </p:nvSpPr>
        <p:spPr>
          <a:xfrm>
            <a:off x="4582973" y="1714500"/>
            <a:ext cx="6485839" cy="210312"/>
          </a:xfrm>
          <a:prstGeom prst="rect">
            <a:avLst/>
          </a:prstGeom>
          <a:noFill/>
          <a:ln/>
        </p:spPr>
        <p:txBody>
          <a:bodyPr wrap="square" lIns="0" tIns="0" rIns="0" bIns="0" rtlCol="0" anchor="ctr"/>
          <a:lstStyle/>
          <a:p>
            <a:pPr marL="0" indent="0" algn="l">
              <a:buNone/>
            </a:pPr>
            <a:r>
              <a:rPr lang="en-US" sz="1300" b="1" kern="0" spc="150" dirty="0">
                <a:solidFill>
                  <a:srgbClr val="F87171"/>
                </a:solidFill>
                <a:latin typeface="Montserrat" pitchFamily="34" charset="0"/>
                <a:ea typeface="Montserrat" pitchFamily="34" charset="-122"/>
                <a:cs typeface="Montserrat" pitchFamily="34" charset="-120"/>
              </a:rPr>
              <a:t> Key Strategic Insight </a:t>
            </a:r>
            <a:endParaRPr lang="en-US" sz="1300" dirty="0"/>
          </a:p>
        </p:txBody>
      </p:sp>
      <p:pic>
        <p:nvPicPr>
          <p:cNvPr id="14" name="Image 2" descr="preencoded.png"/>
          <p:cNvPicPr>
            <a:picLocks noChangeAspect="1"/>
          </p:cNvPicPr>
          <p:nvPr/>
        </p:nvPicPr>
        <p:blipFill>
          <a:blip r:embed="rId5"/>
          <a:srcRect l="-9220" r="-9220"/>
          <a:stretch/>
        </p:blipFill>
        <p:spPr>
          <a:xfrm>
            <a:off x="4286707" y="1726387"/>
            <a:ext cx="152705" cy="171907"/>
          </a:xfrm>
          <a:prstGeom prst="rect">
            <a:avLst/>
          </a:prstGeom>
        </p:spPr>
      </p:pic>
      <p:sp>
        <p:nvSpPr>
          <p:cNvPr id="15" name="Text 10"/>
          <p:cNvSpPr txBox="1"/>
          <p:nvPr/>
        </p:nvSpPr>
        <p:spPr>
          <a:xfrm>
            <a:off x="4300423" y="1910182"/>
            <a:ext cx="7117690" cy="2286000"/>
          </a:xfrm>
          <a:prstGeom prst="rect">
            <a:avLst/>
          </a:prstGeom>
          <a:noFill/>
          <a:ln/>
        </p:spPr>
        <p:txBody>
          <a:bodyPr wrap="square" lIns="0" tIns="0" rIns="0" bIns="0" rtlCol="0" anchor="ctr"/>
          <a:lstStyle/>
          <a:p>
            <a:pPr marL="0" indent="0" algn="l">
              <a:buNone/>
            </a:pPr>
            <a:r>
              <a:rPr lang="en-US" sz="3400" b="1" dirty="0">
                <a:solidFill>
                  <a:srgbClr val="FFFFFF"/>
                </a:solidFill>
                <a:latin typeface="Montserrat" pitchFamily="34" charset="0"/>
                <a:ea typeface="Montserrat" pitchFamily="34" charset="-122"/>
                <a:cs typeface="Montserrat" pitchFamily="34" charset="-120"/>
              </a:rPr>
              <a:t> The bottleneck is </a:t>
            </a:r>
            <a:r>
              <a:rPr lang="en-US" sz="3400" b="1" dirty="0">
                <a:solidFill>
                  <a:srgbClr val="EF4444"/>
                </a:solidFill>
                <a:latin typeface="Montserrat" pitchFamily="34" charset="0"/>
                <a:ea typeface="Montserrat" pitchFamily="34" charset="-122"/>
                <a:cs typeface="Montserrat" pitchFamily="34" charset="-120"/>
              </a:rPr>
              <a:t>NO LONGER</a:t>
            </a:r>
            <a:r>
              <a:rPr lang="en-US" sz="3400" b="1" dirty="0">
                <a:solidFill>
                  <a:srgbClr val="FFFFFF"/>
                </a:solidFill>
                <a:latin typeface="Montserrat" pitchFamily="34" charset="0"/>
                <a:ea typeface="Montserrat" pitchFamily="34" charset="-122"/>
                <a:cs typeface="Montserrat" pitchFamily="34" charset="-120"/>
              </a:rPr>
              <a:t> operational efficiency—it is </a:t>
            </a:r>
            <a:r>
              <a:rPr lang="en-US" sz="3400" b="1" dirty="0">
                <a:solidFill>
                  <a:srgbClr val="38BDF8"/>
                </a:solidFill>
                <a:latin typeface="Montserrat" pitchFamily="34" charset="0"/>
                <a:ea typeface="Montserrat" pitchFamily="34" charset="-122"/>
                <a:cs typeface="Montserrat" pitchFamily="34" charset="-120"/>
              </a:rPr>
              <a:t>capital infrastructure: Beds</a:t>
            </a:r>
            <a:r>
              <a:rPr lang="en-US" sz="3400" b="1" dirty="0">
                <a:solidFill>
                  <a:srgbClr val="FFFFFF"/>
                </a:solidFill>
                <a:latin typeface="Montserrat" pitchFamily="34" charset="0"/>
                <a:ea typeface="Montserrat" pitchFamily="34" charset="-122"/>
                <a:cs typeface="Montserrat" pitchFamily="34" charset="-120"/>
              </a:rPr>
              <a:t>. </a:t>
            </a:r>
            <a:endParaRPr lang="en-US" sz="3400" dirty="0"/>
          </a:p>
        </p:txBody>
      </p:sp>
      <p:pic>
        <p:nvPicPr>
          <p:cNvPr id="16" name="Image 3" descr="preencoded.png"/>
          <p:cNvPicPr>
            <a:picLocks noChangeAspect="1"/>
          </p:cNvPicPr>
          <p:nvPr/>
        </p:nvPicPr>
        <p:blipFill>
          <a:blip r:embed="rId6"/>
          <a:srcRect/>
          <a:stretch/>
        </p:blipFill>
        <p:spPr>
          <a:xfrm>
            <a:off x="952805" y="5191049"/>
            <a:ext cx="381305" cy="381305"/>
          </a:xfrm>
          <a:prstGeom prst="rect">
            <a:avLst/>
          </a:prstGeom>
        </p:spPr>
      </p:pic>
      <p:sp>
        <p:nvSpPr>
          <p:cNvPr id="17" name="Text 11"/>
          <p:cNvSpPr txBox="1"/>
          <p:nvPr/>
        </p:nvSpPr>
        <p:spPr>
          <a:xfrm>
            <a:off x="1619402" y="5095951"/>
            <a:ext cx="4114800" cy="228600"/>
          </a:xfrm>
          <a:prstGeom prst="rect">
            <a:avLst/>
          </a:prstGeom>
          <a:noFill/>
          <a:ln/>
        </p:spPr>
        <p:txBody>
          <a:bodyPr wrap="square" lIns="0" tIns="0" rIns="0" bIns="0" rtlCol="0" anchor="ctr"/>
          <a:lstStyle/>
          <a:p>
            <a:pPr marL="0" indent="0" algn="l">
              <a:buNone/>
            </a:pPr>
            <a:r>
              <a:rPr lang="en-US" sz="1500" b="1" dirty="0">
                <a:solidFill>
                  <a:srgbClr val="0F172A"/>
                </a:solidFill>
                <a:latin typeface="Montserrat" pitchFamily="34" charset="0"/>
                <a:ea typeface="Montserrat" pitchFamily="34" charset="-122"/>
                <a:cs typeface="Montserrat" pitchFamily="34" charset="-120"/>
              </a:rPr>
              <a:t>Mathematical Limits Reached</a:t>
            </a:r>
            <a:endParaRPr lang="en-US" sz="1500" dirty="0"/>
          </a:p>
        </p:txBody>
      </p:sp>
      <p:sp>
        <p:nvSpPr>
          <p:cNvPr id="18" name="Text 12"/>
          <p:cNvSpPr txBox="1"/>
          <p:nvPr/>
        </p:nvSpPr>
        <p:spPr>
          <a:xfrm>
            <a:off x="1619402" y="5381244"/>
            <a:ext cx="4077310" cy="685800"/>
          </a:xfrm>
          <a:prstGeom prst="rect">
            <a:avLst/>
          </a:prstGeom>
          <a:noFill/>
          <a:ln/>
        </p:spPr>
        <p:txBody>
          <a:bodyPr wrap="square" lIns="0" tIns="0" rIns="0" bIns="0" rtlCol="0" anchor="ctr"/>
          <a:lstStyle/>
          <a:p>
            <a:pPr marL="0" indent="0" algn="l">
              <a:buNone/>
            </a:pPr>
            <a:r>
              <a:rPr lang="en-US" sz="1200" dirty="0">
                <a:solidFill>
                  <a:srgbClr val="475569"/>
                </a:solidFill>
                <a:latin typeface="Open Sans" pitchFamily="34" charset="0"/>
                <a:ea typeface="Open Sans" pitchFamily="34" charset="-122"/>
                <a:cs typeface="Open Sans" pitchFamily="34" charset="-120"/>
              </a:rPr>
              <a:t>Even the most advanced MILP optimization hits a physical brick wall. We cannot optimize beds that do not exist.</a:t>
            </a:r>
            <a:endParaRPr lang="en-US" sz="1200" dirty="0"/>
          </a:p>
        </p:txBody>
      </p:sp>
      <p:pic>
        <p:nvPicPr>
          <p:cNvPr id="19" name="Image 4" descr="preencoded.png"/>
          <p:cNvPicPr>
            <a:picLocks noChangeAspect="1"/>
          </p:cNvPicPr>
          <p:nvPr/>
        </p:nvPicPr>
        <p:blipFill>
          <a:blip r:embed="rId7"/>
          <a:srcRect t="-24" b="-24"/>
          <a:stretch/>
        </p:blipFill>
        <p:spPr>
          <a:xfrm>
            <a:off x="6620256" y="5191049"/>
            <a:ext cx="476402" cy="381305"/>
          </a:xfrm>
          <a:prstGeom prst="rect">
            <a:avLst/>
          </a:prstGeom>
        </p:spPr>
      </p:pic>
      <p:sp>
        <p:nvSpPr>
          <p:cNvPr id="20" name="Text 13"/>
          <p:cNvSpPr txBox="1"/>
          <p:nvPr/>
        </p:nvSpPr>
        <p:spPr>
          <a:xfrm>
            <a:off x="7334402" y="5095951"/>
            <a:ext cx="4114800" cy="228600"/>
          </a:xfrm>
          <a:prstGeom prst="rect">
            <a:avLst/>
          </a:prstGeom>
          <a:noFill/>
          <a:ln/>
        </p:spPr>
        <p:txBody>
          <a:bodyPr wrap="square" lIns="0" tIns="0" rIns="0" bIns="0" rtlCol="0" anchor="ctr"/>
          <a:lstStyle/>
          <a:p>
            <a:pPr marL="0" indent="0" algn="l">
              <a:buNone/>
            </a:pPr>
            <a:r>
              <a:rPr lang="en-US" sz="1500" b="1" dirty="0">
                <a:solidFill>
                  <a:srgbClr val="0F172A"/>
                </a:solidFill>
                <a:latin typeface="Montserrat" pitchFamily="34" charset="0"/>
                <a:ea typeface="Montserrat" pitchFamily="34" charset="-122"/>
                <a:cs typeface="Montserrat" pitchFamily="34" charset="-120"/>
              </a:rPr>
              <a:t>Staff Availability is Irrelevant</a:t>
            </a:r>
            <a:endParaRPr lang="en-US" sz="1500" dirty="0"/>
          </a:p>
        </p:txBody>
      </p:sp>
      <p:sp>
        <p:nvSpPr>
          <p:cNvPr id="21" name="Text 14"/>
          <p:cNvSpPr txBox="1"/>
          <p:nvPr/>
        </p:nvSpPr>
        <p:spPr>
          <a:xfrm>
            <a:off x="7334402" y="5381244"/>
            <a:ext cx="4077310" cy="457200"/>
          </a:xfrm>
          <a:prstGeom prst="rect">
            <a:avLst/>
          </a:prstGeom>
          <a:noFill/>
          <a:ln/>
        </p:spPr>
        <p:txBody>
          <a:bodyPr wrap="square" lIns="0" tIns="0" rIns="0" bIns="0" rtlCol="0" anchor="ctr"/>
          <a:lstStyle/>
          <a:p>
            <a:pPr marL="0" indent="0" algn="l">
              <a:buNone/>
            </a:pPr>
            <a:r>
              <a:rPr lang="en-US" sz="1200" dirty="0">
                <a:solidFill>
                  <a:srgbClr val="475569"/>
                </a:solidFill>
                <a:latin typeface="Open Sans" pitchFamily="34" charset="0"/>
                <a:ea typeface="Open Sans" pitchFamily="34" charset="-122"/>
                <a:cs typeface="Open Sans" pitchFamily="34" charset="-120"/>
              </a:rPr>
              <a:t>Under extreme weather, budget remains for additional staff, but physical capacity completely maxes out.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dirty="0"/>
          </a:p>
        </p:txBody>
      </p:sp>
      <p:sp>
        <p:nvSpPr>
          <p:cNvPr id="4" name="Shape 2"/>
          <p:cNvSpPr/>
          <p:nvPr/>
        </p:nvSpPr>
        <p:spPr>
          <a:xfrm>
            <a:off x="620889" y="1202026"/>
            <a:ext cx="7048195" cy="5564606"/>
          </a:xfrm>
          <a:prstGeom prst="roundRect">
            <a:avLst>
              <a:gd name="adj" fmla="val 577"/>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5" name="Shape 3"/>
          <p:cNvSpPr/>
          <p:nvPr/>
        </p:nvSpPr>
        <p:spPr>
          <a:xfrm>
            <a:off x="618537" y="1191126"/>
            <a:ext cx="7048195" cy="64321"/>
          </a:xfrm>
          <a:prstGeom prst="roundRect">
            <a:avLst>
              <a:gd name="adj" fmla="val 49219"/>
            </a:avLst>
          </a:prstGeom>
          <a:solidFill>
            <a:srgbClr val="3B82F6"/>
          </a:solidFill>
          <a:ln w="12700">
            <a:solidFill>
              <a:srgbClr val="3B82F6">
                <a:alpha val="0"/>
              </a:srgbClr>
            </a:solidFill>
            <a:prstDash val="solid"/>
          </a:ln>
        </p:spPr>
        <p:txBody>
          <a:bodyPr/>
          <a:lstStyle/>
          <a:p>
            <a:endParaRPr lang="en-US"/>
          </a:p>
        </p:txBody>
      </p:sp>
      <p:sp>
        <p:nvSpPr>
          <p:cNvPr id="6" name="Shape 4"/>
          <p:cNvSpPr/>
          <p:nvPr/>
        </p:nvSpPr>
        <p:spPr>
          <a:xfrm>
            <a:off x="7898275" y="1202026"/>
            <a:ext cx="3715207" cy="5234003"/>
          </a:xfrm>
          <a:prstGeom prst="roundRect">
            <a:avLst>
              <a:gd name="adj" fmla="val 1010"/>
            </a:avLst>
          </a:prstGeom>
          <a:solidFill>
            <a:srgbClr val="FFFFFF"/>
          </a:solidFill>
          <a:ln/>
          <a:effectLst>
            <a:outerShdw blurRad="63500" dist="38100" dir="16200000" algn="bl" rotWithShape="0">
              <a:srgbClr val="000000">
                <a:alpha val="5000"/>
              </a:srgbClr>
            </a:outerShdw>
          </a:effectLst>
        </p:spPr>
        <p:txBody>
          <a:bodyPr/>
          <a:lstStyle/>
          <a:p>
            <a:endParaRPr lang="en-US"/>
          </a:p>
        </p:txBody>
      </p:sp>
      <p:sp>
        <p:nvSpPr>
          <p:cNvPr id="7" name="Shape 5"/>
          <p:cNvSpPr/>
          <p:nvPr/>
        </p:nvSpPr>
        <p:spPr>
          <a:xfrm>
            <a:off x="7905902" y="1195121"/>
            <a:ext cx="3715207" cy="57607"/>
          </a:xfrm>
          <a:prstGeom prst="roundRect">
            <a:avLst>
              <a:gd name="adj" fmla="val 65120"/>
            </a:avLst>
          </a:prstGeom>
          <a:solidFill>
            <a:srgbClr val="1E293B"/>
          </a:solidFill>
          <a:ln w="12700">
            <a:solidFill>
              <a:srgbClr val="1E293B">
                <a:alpha val="0"/>
              </a:srgbClr>
            </a:solidFill>
            <a:prstDash val="solid"/>
          </a:ln>
        </p:spPr>
        <p:txBody>
          <a:bodyPr/>
          <a:lstStyle/>
          <a:p>
            <a:endParaRPr lang="en-US"/>
          </a:p>
        </p:txBody>
      </p:sp>
      <p:pic>
        <p:nvPicPr>
          <p:cNvPr id="8" name="Image 0" descr="preencoded.png"/>
          <p:cNvPicPr>
            <a:picLocks noChangeAspect="1"/>
          </p:cNvPicPr>
          <p:nvPr/>
        </p:nvPicPr>
        <p:blipFill>
          <a:blip r:embed="rId3"/>
          <a:srcRect t="-393" b="-393"/>
          <a:stretch/>
        </p:blipFill>
        <p:spPr>
          <a:xfrm>
            <a:off x="8191195" y="2095805"/>
            <a:ext cx="3143707" cy="19202"/>
          </a:xfrm>
          <a:prstGeom prst="rect">
            <a:avLst/>
          </a:prstGeom>
        </p:spPr>
      </p:pic>
      <p:sp>
        <p:nvSpPr>
          <p:cNvPr id="9" name="Text 6"/>
          <p:cNvSpPr txBox="1"/>
          <p:nvPr/>
        </p:nvSpPr>
        <p:spPr>
          <a:xfrm>
            <a:off x="571500" y="171859"/>
            <a:ext cx="11199571" cy="962863"/>
          </a:xfrm>
          <a:prstGeom prst="rect">
            <a:avLst/>
          </a:prstGeom>
          <a:noFill/>
          <a:ln/>
        </p:spPr>
        <p:txBody>
          <a:bodyPr wrap="square" lIns="0" tIns="0" rIns="0" bIns="0" rtlCol="0" anchor="ctr"/>
          <a:lstStyle/>
          <a:p>
            <a:pPr marL="0" indent="0" algn="l">
              <a:buNone/>
            </a:pPr>
            <a:r>
              <a:rPr lang="en-US" sz="3100" b="1" kern="0" spc="-37" dirty="0">
                <a:solidFill>
                  <a:srgbClr val="0F172A"/>
                </a:solidFill>
                <a:latin typeface="Montserrat" pitchFamily="34" charset="0"/>
                <a:ea typeface="Montserrat" pitchFamily="34" charset="-122"/>
                <a:cs typeface="Montserrat" pitchFamily="34" charset="-120"/>
              </a:rPr>
              <a:t>Strategic Pivot: </a:t>
            </a:r>
          </a:p>
          <a:p>
            <a:pPr marL="0" indent="0" algn="l">
              <a:buNone/>
            </a:pPr>
            <a:r>
              <a:rPr lang="en-US" sz="3100" b="1" kern="0" spc="-37" dirty="0">
                <a:solidFill>
                  <a:srgbClr val="3B82F6"/>
                </a:solidFill>
                <a:latin typeface="Montserrat" pitchFamily="34" charset="0"/>
                <a:ea typeface="Montserrat" pitchFamily="34" charset="-122"/>
                <a:cs typeface="Montserrat" pitchFamily="34" charset="-120"/>
              </a:rPr>
              <a:t>Targeted Expansion Drives the Highest ROI</a:t>
            </a:r>
            <a:endParaRPr lang="en-US" sz="3100" dirty="0"/>
          </a:p>
        </p:txBody>
      </p:sp>
      <p:sp>
        <p:nvSpPr>
          <p:cNvPr id="11" name="Text 7"/>
          <p:cNvSpPr txBox="1"/>
          <p:nvPr/>
        </p:nvSpPr>
        <p:spPr>
          <a:xfrm>
            <a:off x="8191195" y="1714500"/>
            <a:ext cx="3729838" cy="257861"/>
          </a:xfrm>
          <a:prstGeom prst="rect">
            <a:avLst/>
          </a:prstGeom>
          <a:noFill/>
          <a:ln/>
        </p:spPr>
        <p:txBody>
          <a:bodyPr wrap="square" lIns="0" tIns="0" rIns="0" bIns="0" rtlCol="0" anchor="ctr"/>
          <a:lstStyle/>
          <a:p>
            <a:pPr marL="0" indent="0" algn="l">
              <a:buNone/>
            </a:pPr>
            <a:r>
              <a:rPr lang="en-US" sz="1600" b="1" kern="0" spc="38" dirty="0">
                <a:solidFill>
                  <a:srgbClr val="0F172A"/>
                </a:solidFill>
                <a:latin typeface="Montserrat" pitchFamily="34" charset="0"/>
                <a:ea typeface="Montserrat" pitchFamily="34" charset="-122"/>
                <a:cs typeface="Montserrat" pitchFamily="34" charset="-120"/>
              </a:rPr>
              <a:t>Capital Distribution Impact</a:t>
            </a:r>
            <a:endParaRPr lang="en-US" sz="1600" dirty="0"/>
          </a:p>
        </p:txBody>
      </p:sp>
      <p:pic>
        <p:nvPicPr>
          <p:cNvPr id="12" name="Image 2" descr="preencoded.png"/>
          <p:cNvPicPr>
            <a:picLocks noChangeAspect="1"/>
          </p:cNvPicPr>
          <p:nvPr/>
        </p:nvPicPr>
        <p:blipFill>
          <a:blip r:embed="rId4"/>
          <a:srcRect l="-80" r="-80"/>
          <a:stretch/>
        </p:blipFill>
        <p:spPr>
          <a:xfrm>
            <a:off x="8207871" y="2429104"/>
            <a:ext cx="286207" cy="228600"/>
          </a:xfrm>
          <a:prstGeom prst="rect">
            <a:avLst/>
          </a:prstGeom>
        </p:spPr>
      </p:pic>
      <p:sp>
        <p:nvSpPr>
          <p:cNvPr id="13" name="Text 8"/>
          <p:cNvSpPr txBox="1"/>
          <p:nvPr/>
        </p:nvSpPr>
        <p:spPr>
          <a:xfrm>
            <a:off x="8658291" y="2416656"/>
            <a:ext cx="2774290" cy="257861"/>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10 New Beds Available</a:t>
            </a:r>
            <a:endParaRPr lang="en-US" sz="1300" dirty="0"/>
          </a:p>
        </p:txBody>
      </p:sp>
      <p:sp>
        <p:nvSpPr>
          <p:cNvPr id="14" name="Text 9"/>
          <p:cNvSpPr txBox="1"/>
          <p:nvPr/>
        </p:nvSpPr>
        <p:spPr>
          <a:xfrm>
            <a:off x="8660803" y="2732462"/>
            <a:ext cx="2743200" cy="685800"/>
          </a:xfrm>
          <a:prstGeom prst="rect">
            <a:avLst/>
          </a:prstGeom>
          <a:noFill/>
          <a:ln/>
        </p:spPr>
        <p:txBody>
          <a:bodyPr wrap="square" lIns="0" tIns="0" rIns="0" bIns="0" rtlCol="0" anchor="ctr"/>
          <a:lstStyle/>
          <a:p>
            <a:pPr marL="0" indent="0" algn="l">
              <a:buNone/>
            </a:pPr>
            <a:r>
              <a:rPr lang="en-US" sz="1200" dirty="0">
                <a:solidFill>
                  <a:srgbClr val="64748B"/>
                </a:solidFill>
                <a:latin typeface="Open Sans" pitchFamily="34" charset="0"/>
                <a:ea typeface="Open Sans" pitchFamily="34" charset="-122"/>
                <a:cs typeface="Open Sans" pitchFamily="34" charset="-120"/>
              </a:rPr>
              <a:t>Evaluating three methods for capital distribution: Equal, Proportional, and Targeted Hubs.</a:t>
            </a:r>
            <a:endParaRPr lang="en-US" sz="1200" dirty="0"/>
          </a:p>
        </p:txBody>
      </p:sp>
      <p:pic>
        <p:nvPicPr>
          <p:cNvPr id="15" name="Image 3" descr="preencoded.png"/>
          <p:cNvPicPr>
            <a:picLocks noChangeAspect="1"/>
          </p:cNvPicPr>
          <p:nvPr/>
        </p:nvPicPr>
        <p:blipFill>
          <a:blip r:embed="rId5"/>
          <a:srcRect t="-45" b="-45"/>
          <a:stretch/>
        </p:blipFill>
        <p:spPr>
          <a:xfrm>
            <a:off x="8220444" y="3626077"/>
            <a:ext cx="256946" cy="228600"/>
          </a:xfrm>
          <a:prstGeom prst="rect">
            <a:avLst/>
          </a:prstGeom>
        </p:spPr>
      </p:pic>
      <p:sp>
        <p:nvSpPr>
          <p:cNvPr id="16" name="Text 10"/>
          <p:cNvSpPr txBox="1"/>
          <p:nvPr/>
        </p:nvSpPr>
        <p:spPr>
          <a:xfrm>
            <a:off x="8658291" y="3622491"/>
            <a:ext cx="2774290" cy="257861"/>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The Winner: Targeted Hubs</a:t>
            </a:r>
            <a:endParaRPr lang="en-US" sz="1300" dirty="0"/>
          </a:p>
        </p:txBody>
      </p:sp>
      <p:sp>
        <p:nvSpPr>
          <p:cNvPr id="17" name="Text 11"/>
          <p:cNvSpPr txBox="1"/>
          <p:nvPr/>
        </p:nvSpPr>
        <p:spPr>
          <a:xfrm>
            <a:off x="8645258" y="3938297"/>
            <a:ext cx="2743200" cy="685800"/>
          </a:xfrm>
          <a:prstGeom prst="rect">
            <a:avLst/>
          </a:prstGeom>
          <a:noFill/>
          <a:ln/>
        </p:spPr>
        <p:txBody>
          <a:bodyPr wrap="square" lIns="0" tIns="0" rIns="0" bIns="0" rtlCol="0" anchor="ctr"/>
          <a:lstStyle/>
          <a:p>
            <a:pPr marL="0" indent="0" algn="l">
              <a:buNone/>
            </a:pPr>
            <a:r>
              <a:rPr lang="en-US" sz="1200" dirty="0">
                <a:solidFill>
                  <a:srgbClr val="64748B"/>
                </a:solidFill>
                <a:latin typeface="Open Sans" pitchFamily="34" charset="0"/>
                <a:ea typeface="Open Sans" pitchFamily="34" charset="-122"/>
                <a:cs typeface="Open Sans" pitchFamily="34" charset="-120"/>
              </a:rPr>
              <a:t>Allocating +5 beds to Elizabeth and +5 to Scarborough yields the best outcomes.</a:t>
            </a:r>
            <a:endParaRPr lang="en-US" sz="1200" dirty="0"/>
          </a:p>
        </p:txBody>
      </p:sp>
      <p:pic>
        <p:nvPicPr>
          <p:cNvPr id="18" name="Image 4" descr="preencoded.png"/>
          <p:cNvPicPr>
            <a:picLocks noChangeAspect="1"/>
          </p:cNvPicPr>
          <p:nvPr/>
        </p:nvPicPr>
        <p:blipFill>
          <a:blip r:embed="rId6"/>
          <a:srcRect t="-45" b="-45"/>
          <a:stretch/>
        </p:blipFill>
        <p:spPr>
          <a:xfrm>
            <a:off x="8256996" y="4853612"/>
            <a:ext cx="256946" cy="228600"/>
          </a:xfrm>
          <a:prstGeom prst="rect">
            <a:avLst/>
          </a:prstGeom>
        </p:spPr>
      </p:pic>
      <p:sp>
        <p:nvSpPr>
          <p:cNvPr id="19" name="Text 12"/>
          <p:cNvSpPr txBox="1"/>
          <p:nvPr/>
        </p:nvSpPr>
        <p:spPr>
          <a:xfrm>
            <a:off x="8629713" y="4824351"/>
            <a:ext cx="2774290" cy="257861"/>
          </a:xfrm>
          <a:prstGeom prst="rect">
            <a:avLst/>
          </a:prstGeom>
          <a:noFill/>
          <a:ln/>
        </p:spPr>
        <p:txBody>
          <a:bodyPr wrap="square" lIns="0" tIns="0" rIns="0" bIns="0" rtlCol="0" anchor="ctr"/>
          <a:lstStyle/>
          <a:p>
            <a:pPr marL="0" indent="0" algn="l">
              <a:buNone/>
            </a:pPr>
            <a:r>
              <a:rPr lang="en-US" sz="1300" b="1" dirty="0">
                <a:solidFill>
                  <a:srgbClr val="334155"/>
                </a:solidFill>
                <a:latin typeface="Open Sans" pitchFamily="34" charset="0"/>
                <a:ea typeface="Open Sans" pitchFamily="34" charset="-122"/>
                <a:cs typeface="Open Sans" pitchFamily="34" charset="-120"/>
              </a:rPr>
              <a:t>Impact vs. Baseline</a:t>
            </a:r>
            <a:endParaRPr lang="en-US" sz="1300" dirty="0"/>
          </a:p>
        </p:txBody>
      </p:sp>
      <p:sp>
        <p:nvSpPr>
          <p:cNvPr id="20" name="Text 13"/>
          <p:cNvSpPr txBox="1"/>
          <p:nvPr/>
        </p:nvSpPr>
        <p:spPr>
          <a:xfrm>
            <a:off x="8629713" y="5137148"/>
            <a:ext cx="2743200" cy="685800"/>
          </a:xfrm>
          <a:prstGeom prst="rect">
            <a:avLst/>
          </a:prstGeom>
          <a:noFill/>
          <a:ln/>
        </p:spPr>
        <p:txBody>
          <a:bodyPr wrap="square" lIns="0" tIns="0" rIns="0" bIns="0" rtlCol="0" anchor="ctr"/>
          <a:lstStyle/>
          <a:p>
            <a:pPr marL="0" indent="0" algn="l">
              <a:buNone/>
            </a:pPr>
            <a:r>
              <a:rPr lang="en-US" sz="1200" dirty="0">
                <a:solidFill>
                  <a:srgbClr val="64748B"/>
                </a:solidFill>
                <a:latin typeface="Open Sans" pitchFamily="34" charset="0"/>
                <a:ea typeface="Open Sans" pitchFamily="34" charset="-122"/>
                <a:cs typeface="Open Sans" pitchFamily="34" charset="-120"/>
              </a:rPr>
              <a:t>Achieves a +5.7% increase in Welfare and a dramatic -67% reduction in turn-aways per night.</a:t>
            </a:r>
            <a:endParaRPr lang="en-US" sz="1200" dirty="0"/>
          </a:p>
        </p:txBody>
      </p:sp>
      <p:pic>
        <p:nvPicPr>
          <p:cNvPr id="24" name="Picture 23">
            <a:extLst>
              <a:ext uri="{FF2B5EF4-FFF2-40B4-BE49-F238E27FC236}">
                <a16:creationId xmlns:a16="http://schemas.microsoft.com/office/drawing/2014/main" id="{0941E238-E407-781E-8A34-F31A3E6D71FF}"/>
              </a:ext>
            </a:extLst>
          </p:cNvPr>
          <p:cNvPicPr>
            <a:picLocks noChangeAspect="1"/>
          </p:cNvPicPr>
          <p:nvPr/>
        </p:nvPicPr>
        <p:blipFill>
          <a:blip r:embed="rId7"/>
          <a:stretch>
            <a:fillRect/>
          </a:stretch>
        </p:blipFill>
        <p:spPr>
          <a:xfrm>
            <a:off x="620889" y="1306581"/>
            <a:ext cx="4197757" cy="2525477"/>
          </a:xfrm>
          <a:prstGeom prst="rect">
            <a:avLst/>
          </a:prstGeom>
        </p:spPr>
      </p:pic>
      <p:pic>
        <p:nvPicPr>
          <p:cNvPr id="28" name="Picture 27">
            <a:extLst>
              <a:ext uri="{FF2B5EF4-FFF2-40B4-BE49-F238E27FC236}">
                <a16:creationId xmlns:a16="http://schemas.microsoft.com/office/drawing/2014/main" id="{B9CAB182-103D-88D6-F913-60976E9C8181}"/>
              </a:ext>
            </a:extLst>
          </p:cNvPr>
          <p:cNvPicPr>
            <a:picLocks noChangeAspect="1"/>
          </p:cNvPicPr>
          <p:nvPr/>
        </p:nvPicPr>
        <p:blipFill>
          <a:blip r:embed="rId8"/>
          <a:stretch>
            <a:fillRect/>
          </a:stretch>
        </p:blipFill>
        <p:spPr>
          <a:xfrm>
            <a:off x="2977817" y="3755537"/>
            <a:ext cx="4666568" cy="3000195"/>
          </a:xfrm>
          <a:prstGeom prst="rect">
            <a:avLst/>
          </a:prstGeom>
        </p:spPr>
      </p:pic>
      <p:sp>
        <p:nvSpPr>
          <p:cNvPr id="10" name="Arrow: Right 9">
            <a:extLst>
              <a:ext uri="{FF2B5EF4-FFF2-40B4-BE49-F238E27FC236}">
                <a16:creationId xmlns:a16="http://schemas.microsoft.com/office/drawing/2014/main" id="{FF3DDB59-6D50-FB5B-CA31-C43CC580E8D1}"/>
              </a:ext>
            </a:extLst>
          </p:cNvPr>
          <p:cNvSpPr/>
          <p:nvPr/>
        </p:nvSpPr>
        <p:spPr>
          <a:xfrm rot="2339914" flipV="1">
            <a:off x="4650811" y="1937504"/>
            <a:ext cx="1392707" cy="69713"/>
          </a:xfrm>
          <a:prstGeom prst="rightArrow">
            <a:avLst/>
          </a:prstGeom>
          <a:solidFill>
            <a:srgbClr val="3B82F6"/>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28444065-54DA-C763-5EA0-E347CB1C557B}"/>
              </a:ext>
            </a:extLst>
          </p:cNvPr>
          <p:cNvSpPr/>
          <p:nvPr/>
        </p:nvSpPr>
        <p:spPr>
          <a:xfrm rot="13514147">
            <a:off x="6104370" y="3239459"/>
            <a:ext cx="1482899" cy="69615"/>
          </a:xfrm>
          <a:prstGeom prst="rightArrow">
            <a:avLst/>
          </a:prstGeom>
          <a:solidFill>
            <a:srgbClr val="3B82F6"/>
          </a:solidFill>
          <a:ln>
            <a:solidFill>
              <a:srgbClr val="3B82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 6">
            <a:extLst>
              <a:ext uri="{FF2B5EF4-FFF2-40B4-BE49-F238E27FC236}">
                <a16:creationId xmlns:a16="http://schemas.microsoft.com/office/drawing/2014/main" id="{599947EA-019D-41E5-6AB6-27228D310083}"/>
              </a:ext>
            </a:extLst>
          </p:cNvPr>
          <p:cNvSpPr txBox="1"/>
          <p:nvPr/>
        </p:nvSpPr>
        <p:spPr>
          <a:xfrm>
            <a:off x="5374731" y="2072656"/>
            <a:ext cx="1777756" cy="962863"/>
          </a:xfrm>
          <a:prstGeom prst="rect">
            <a:avLst/>
          </a:prstGeom>
          <a:noFill/>
          <a:ln/>
        </p:spPr>
        <p:txBody>
          <a:bodyPr wrap="square" lIns="0" tIns="0" rIns="0" bIns="0" rtlCol="0" anchor="ctr"/>
          <a:lstStyle/>
          <a:p>
            <a:pPr marL="0" indent="0" algn="l">
              <a:buNone/>
            </a:pPr>
            <a:r>
              <a:rPr lang="en-CA" altLang="zh-CN" sz="2800" b="1" kern="0" spc="-37" dirty="0">
                <a:solidFill>
                  <a:srgbClr val="3B82F6"/>
                </a:solidFill>
                <a:latin typeface="Montserrat" pitchFamily="34" charset="0"/>
                <a:ea typeface="Montserrat" pitchFamily="34" charset="-122"/>
                <a:cs typeface="Montserrat" pitchFamily="34" charset="-120"/>
              </a:rPr>
              <a:t>Best</a:t>
            </a:r>
            <a:r>
              <a:rPr lang="en-US" sz="2800" b="1" kern="0" spc="-37" dirty="0">
                <a:solidFill>
                  <a:srgbClr val="3B82F6"/>
                </a:solidFill>
                <a:latin typeface="Montserrat" pitchFamily="34" charset="0"/>
                <a:ea typeface="Montserrat" pitchFamily="34" charset="-122"/>
                <a:cs typeface="Montserrat" pitchFamily="34" charset="-120"/>
              </a:rPr>
              <a:t> ROI</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sp>
        <p:nvSpPr>
          <p:cNvPr id="3"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en-US"/>
          </a:p>
        </p:txBody>
      </p:sp>
      <p:pic>
        <p:nvPicPr>
          <p:cNvPr id="4" name="Image 0" descr="preencoded.png"/>
          <p:cNvPicPr>
            <a:picLocks noChangeAspect="1"/>
          </p:cNvPicPr>
          <p:nvPr/>
        </p:nvPicPr>
        <p:blipFill>
          <a:blip r:embed="rId3"/>
          <a:srcRect t="-1" b="-1"/>
          <a:stretch/>
        </p:blipFill>
        <p:spPr>
          <a:xfrm>
            <a:off x="571500" y="1238098"/>
            <a:ext cx="5333695" cy="3409798"/>
          </a:xfrm>
          <a:prstGeom prst="rect">
            <a:avLst/>
          </a:prstGeom>
        </p:spPr>
      </p:pic>
      <p:sp>
        <p:nvSpPr>
          <p:cNvPr id="5" name="Shape 2"/>
          <p:cNvSpPr/>
          <p:nvPr/>
        </p:nvSpPr>
        <p:spPr>
          <a:xfrm>
            <a:off x="2572207" y="1619402"/>
            <a:ext cx="1333195" cy="1333195"/>
          </a:xfrm>
          <a:prstGeom prst="ellipse">
            <a:avLst/>
          </a:prstGeom>
          <a:solidFill>
            <a:srgbClr val="EFF6FF"/>
          </a:solidFill>
          <a:ln w="12700">
            <a:solidFill>
              <a:srgbClr val="FFFFFF">
                <a:alpha val="0"/>
              </a:srgbClr>
            </a:solidFill>
            <a:prstDash val="solid"/>
          </a:ln>
        </p:spPr>
        <p:txBody>
          <a:bodyPr/>
          <a:lstStyle/>
          <a:p>
            <a:endParaRPr lang="en-US"/>
          </a:p>
        </p:txBody>
      </p:sp>
      <p:pic>
        <p:nvPicPr>
          <p:cNvPr id="6" name="Image 1" descr="preencoded.png"/>
          <p:cNvPicPr>
            <a:picLocks noChangeAspect="1"/>
          </p:cNvPicPr>
          <p:nvPr/>
        </p:nvPicPr>
        <p:blipFill>
          <a:blip r:embed="rId4"/>
          <a:srcRect t="-1" b="-1"/>
          <a:stretch/>
        </p:blipFill>
        <p:spPr>
          <a:xfrm>
            <a:off x="6286500" y="1238098"/>
            <a:ext cx="5333695" cy="3409798"/>
          </a:xfrm>
          <a:prstGeom prst="rect">
            <a:avLst/>
          </a:prstGeom>
        </p:spPr>
      </p:pic>
      <p:sp>
        <p:nvSpPr>
          <p:cNvPr id="7" name="Shape 3"/>
          <p:cNvSpPr/>
          <p:nvPr/>
        </p:nvSpPr>
        <p:spPr>
          <a:xfrm>
            <a:off x="8287207" y="1619402"/>
            <a:ext cx="1333195" cy="1333195"/>
          </a:xfrm>
          <a:prstGeom prst="ellipse">
            <a:avLst/>
          </a:prstGeom>
          <a:solidFill>
            <a:srgbClr val="ECFDF5"/>
          </a:solidFill>
          <a:ln w="12700">
            <a:solidFill>
              <a:srgbClr val="FFFFFF">
                <a:alpha val="0"/>
              </a:srgbClr>
            </a:solidFill>
            <a:prstDash val="solid"/>
          </a:ln>
        </p:spPr>
        <p:txBody>
          <a:bodyPr/>
          <a:lstStyle/>
          <a:p>
            <a:endParaRPr lang="en-US"/>
          </a:p>
        </p:txBody>
      </p:sp>
      <p:pic>
        <p:nvPicPr>
          <p:cNvPr id="8" name="Image 2" descr="preencoded.png"/>
          <p:cNvPicPr>
            <a:picLocks noChangeAspect="1"/>
          </p:cNvPicPr>
          <p:nvPr/>
        </p:nvPicPr>
        <p:blipFill>
          <a:blip r:embed="rId5"/>
          <a:srcRect l="-5" r="-5"/>
          <a:stretch/>
        </p:blipFill>
        <p:spPr>
          <a:xfrm>
            <a:off x="571500" y="4858207"/>
            <a:ext cx="11162995" cy="1238098"/>
          </a:xfrm>
          <a:prstGeom prst="rect">
            <a:avLst/>
          </a:prstGeom>
        </p:spPr>
      </p:pic>
      <p:sp>
        <p:nvSpPr>
          <p:cNvPr id="9" name="Text 4"/>
          <p:cNvSpPr txBox="1"/>
          <p:nvPr/>
        </p:nvSpPr>
        <p:spPr>
          <a:xfrm>
            <a:off x="571500" y="381305"/>
            <a:ext cx="11239805" cy="486461"/>
          </a:xfrm>
          <a:prstGeom prst="rect">
            <a:avLst/>
          </a:prstGeom>
          <a:noFill/>
          <a:ln/>
        </p:spPr>
        <p:txBody>
          <a:bodyPr wrap="square" lIns="0" tIns="0" rIns="0" bIns="0" rtlCol="0" anchor="ctr"/>
          <a:lstStyle/>
          <a:p>
            <a:pPr marL="0" indent="0" algn="l">
              <a:buNone/>
            </a:pPr>
            <a:r>
              <a:rPr lang="en-US" sz="3100" b="1" kern="0" spc="-37" dirty="0">
                <a:solidFill>
                  <a:srgbClr val="0F172A"/>
                </a:solidFill>
                <a:latin typeface="Montserrat" pitchFamily="34" charset="0"/>
                <a:ea typeface="Montserrat" pitchFamily="34" charset="-122"/>
                <a:cs typeface="Montserrat" pitchFamily="34" charset="-120"/>
              </a:rPr>
              <a:t>Final Roadmap &amp; </a:t>
            </a:r>
            <a:r>
              <a:rPr lang="en-US" sz="3100" b="1" kern="0" spc="-37" dirty="0">
                <a:solidFill>
                  <a:srgbClr val="3B82F6"/>
                </a:solidFill>
                <a:latin typeface="Montserrat" pitchFamily="34" charset="0"/>
                <a:ea typeface="Montserrat" pitchFamily="34" charset="-122"/>
                <a:cs typeface="Montserrat" pitchFamily="34" charset="-120"/>
              </a:rPr>
              <a:t>Recommendations</a:t>
            </a:r>
            <a:endParaRPr lang="en-US" sz="3100" dirty="0"/>
          </a:p>
        </p:txBody>
      </p:sp>
      <p:pic>
        <p:nvPicPr>
          <p:cNvPr id="10" name="Image 3" descr="preencoded.png"/>
          <p:cNvPicPr>
            <a:picLocks noChangeAspect="1"/>
          </p:cNvPicPr>
          <p:nvPr/>
        </p:nvPicPr>
        <p:blipFill>
          <a:blip r:embed="rId6"/>
          <a:srcRect t="-16" b="-16"/>
          <a:stretch/>
        </p:blipFill>
        <p:spPr>
          <a:xfrm>
            <a:off x="2905049" y="2000707"/>
            <a:ext cx="714146" cy="571500"/>
          </a:xfrm>
          <a:prstGeom prst="rect">
            <a:avLst/>
          </a:prstGeom>
        </p:spPr>
      </p:pic>
      <p:sp>
        <p:nvSpPr>
          <p:cNvPr id="11" name="Text 5"/>
          <p:cNvSpPr txBox="1"/>
          <p:nvPr/>
        </p:nvSpPr>
        <p:spPr>
          <a:xfrm>
            <a:off x="705002" y="3238805"/>
            <a:ext cx="5067605" cy="277063"/>
          </a:xfrm>
          <a:prstGeom prst="rect">
            <a:avLst/>
          </a:prstGeom>
          <a:noFill/>
          <a:ln/>
        </p:spPr>
        <p:txBody>
          <a:bodyPr wrap="square" lIns="0" tIns="0" rIns="0" bIns="0" rtlCol="0" anchor="ctr"/>
          <a:lstStyle/>
          <a:p>
            <a:pPr marL="0" indent="0" algn="ctr">
              <a:buNone/>
            </a:pPr>
            <a:r>
              <a:rPr lang="en-US" sz="1800" b="1" kern="0" spc="75" dirty="0">
                <a:solidFill>
                  <a:srgbClr val="0F172A"/>
                </a:solidFill>
                <a:latin typeface="Montserrat" pitchFamily="34" charset="0"/>
                <a:ea typeface="Montserrat" pitchFamily="34" charset="-122"/>
                <a:cs typeface="Montserrat" pitchFamily="34" charset="-120"/>
              </a:rPr>
              <a:t>OPERATIONAL STRATEGY</a:t>
            </a:r>
            <a:endParaRPr lang="en-US" sz="1800" dirty="0"/>
          </a:p>
        </p:txBody>
      </p:sp>
      <p:sp>
        <p:nvSpPr>
          <p:cNvPr id="12" name="Text 6"/>
          <p:cNvSpPr txBox="1"/>
          <p:nvPr/>
        </p:nvSpPr>
        <p:spPr>
          <a:xfrm>
            <a:off x="914400" y="3715207"/>
            <a:ext cx="4648810" cy="609905"/>
          </a:xfrm>
          <a:prstGeom prst="rect">
            <a:avLst/>
          </a:prstGeom>
          <a:noFill/>
          <a:ln/>
        </p:spPr>
        <p:txBody>
          <a:bodyPr wrap="square" lIns="0" tIns="0" rIns="0" bIns="0" rtlCol="0" anchor="ctr"/>
          <a:lstStyle/>
          <a:p>
            <a:pPr algn="ctr" rtl="0" fontAlgn="base">
              <a:buNone/>
            </a:pPr>
            <a:r>
              <a:rPr lang="en-US" sz="1400" b="0" i="0" u="none" strike="noStrike" dirty="0">
                <a:solidFill>
                  <a:srgbClr val="475569"/>
                </a:solidFill>
                <a:effectLst/>
                <a:latin typeface="Open Sans" panose="020B0606030504020204" pitchFamily="34" charset="0"/>
                <a:ea typeface="Open Sans" panose="020B0606030504020204" pitchFamily="34" charset="0"/>
                <a:cs typeface="Open Sans" panose="020B0606030504020204" pitchFamily="34" charset="0"/>
              </a:rPr>
              <a:t>Adopt the algorithmic staffing level to replace manual scheduling.</a:t>
            </a:r>
            <a:r>
              <a:rPr lang="en-US" sz="14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a:t>
            </a:r>
          </a:p>
          <a:p>
            <a:pPr algn="ctr" rtl="0" fontAlgn="base">
              <a:buNone/>
            </a:pPr>
            <a:r>
              <a:rPr lang="en-US" sz="1200" b="1" i="1" u="none" strike="noStrike" dirty="0">
                <a:solidFill>
                  <a:srgbClr val="334155"/>
                </a:solidFill>
                <a:effectLst/>
                <a:latin typeface="Open Sans" panose="020B0606030504020204" pitchFamily="34" charset="0"/>
              </a:rPr>
              <a:t>Elizabeth: 4, George: 2, Scarborough: 4, North York: 3, </a:t>
            </a:r>
            <a:r>
              <a:rPr lang="en-US" sz="1200" b="0" i="0" dirty="0">
                <a:solidFill>
                  <a:srgbClr val="000000"/>
                </a:solidFill>
                <a:effectLst/>
                <a:latin typeface="Open Sans" panose="020B0606030504020204" pitchFamily="34" charset="0"/>
              </a:rPr>
              <a:t>​</a:t>
            </a:r>
            <a:endParaRPr lang="en-US" sz="1200" b="0" i="0" dirty="0">
              <a:solidFill>
                <a:srgbClr val="000000"/>
              </a:solidFill>
              <a:effectLst/>
              <a:latin typeface="Segoe UI" panose="020B0502040204020203" pitchFamily="34" charset="0"/>
            </a:endParaRPr>
          </a:p>
          <a:p>
            <a:pPr algn="ctr" rtl="0" fontAlgn="base">
              <a:buNone/>
            </a:pPr>
            <a:r>
              <a:rPr lang="en-US" sz="1200" b="1" i="1" u="none" strike="noStrike" dirty="0">
                <a:solidFill>
                  <a:srgbClr val="334155"/>
                </a:solidFill>
                <a:effectLst/>
                <a:latin typeface="Open Sans" panose="020B0606030504020204" pitchFamily="34" charset="0"/>
              </a:rPr>
              <a:t>Spadina: 2, Cecil: 2, Jimmie Simpson: 2 </a:t>
            </a:r>
            <a:endParaRPr lang="en-US" sz="1200" b="0" i="0" dirty="0">
              <a:solidFill>
                <a:srgbClr val="000000"/>
              </a:solidFill>
              <a:effectLst/>
              <a:latin typeface="Segoe UI" panose="020B0502040204020203" pitchFamily="34" charset="0"/>
            </a:endParaRPr>
          </a:p>
        </p:txBody>
      </p:sp>
      <p:pic>
        <p:nvPicPr>
          <p:cNvPr id="13" name="Image 4" descr="preencoded.png"/>
          <p:cNvPicPr>
            <a:picLocks noChangeAspect="1"/>
          </p:cNvPicPr>
          <p:nvPr/>
        </p:nvPicPr>
        <p:blipFill>
          <a:blip r:embed="rId7"/>
          <a:srcRect/>
          <a:stretch/>
        </p:blipFill>
        <p:spPr>
          <a:xfrm>
            <a:off x="8667598" y="2000707"/>
            <a:ext cx="571500" cy="571500"/>
          </a:xfrm>
          <a:prstGeom prst="rect">
            <a:avLst/>
          </a:prstGeom>
        </p:spPr>
      </p:pic>
      <p:sp>
        <p:nvSpPr>
          <p:cNvPr id="14" name="Text 7"/>
          <p:cNvSpPr txBox="1"/>
          <p:nvPr/>
        </p:nvSpPr>
        <p:spPr>
          <a:xfrm>
            <a:off x="6420002" y="3238805"/>
            <a:ext cx="5067605" cy="277063"/>
          </a:xfrm>
          <a:prstGeom prst="rect">
            <a:avLst/>
          </a:prstGeom>
          <a:noFill/>
          <a:ln/>
        </p:spPr>
        <p:txBody>
          <a:bodyPr wrap="square" lIns="0" tIns="0" rIns="0" bIns="0" rtlCol="0" anchor="ctr"/>
          <a:lstStyle/>
          <a:p>
            <a:pPr marL="0" indent="0" algn="ctr">
              <a:buNone/>
            </a:pPr>
            <a:r>
              <a:rPr lang="en-US" sz="1800" b="1" kern="0" spc="75" dirty="0">
                <a:solidFill>
                  <a:srgbClr val="0F172A"/>
                </a:solidFill>
                <a:latin typeface="Montserrat" pitchFamily="34" charset="0"/>
                <a:ea typeface="Montserrat" pitchFamily="34" charset="-122"/>
                <a:cs typeface="Montserrat" pitchFamily="34" charset="-120"/>
              </a:rPr>
              <a:t>FINANCIAL STRATEGY</a:t>
            </a:r>
            <a:endParaRPr lang="en-US" sz="1800" dirty="0"/>
          </a:p>
        </p:txBody>
      </p:sp>
      <p:sp>
        <p:nvSpPr>
          <p:cNvPr id="15" name="Text 8"/>
          <p:cNvSpPr txBox="1"/>
          <p:nvPr/>
        </p:nvSpPr>
        <p:spPr>
          <a:xfrm>
            <a:off x="6629400" y="3715207"/>
            <a:ext cx="4648810" cy="914400"/>
          </a:xfrm>
          <a:prstGeom prst="rect">
            <a:avLst/>
          </a:prstGeom>
          <a:noFill/>
          <a:ln/>
        </p:spPr>
        <p:txBody>
          <a:bodyPr wrap="square" lIns="0" tIns="0" rIns="0" bIns="0" rtlCol="0" anchor="ctr"/>
          <a:lstStyle/>
          <a:p>
            <a:pPr marL="0" indent="0" algn="ctr">
              <a:buNone/>
            </a:pPr>
            <a:r>
              <a:rPr lang="en-US" sz="1500" dirty="0">
                <a:solidFill>
                  <a:srgbClr val="475569"/>
                </a:solidFill>
                <a:latin typeface="Open Sans" pitchFamily="34" charset="0"/>
                <a:ea typeface="Open Sans" pitchFamily="34" charset="-122"/>
                <a:cs typeface="Open Sans" pitchFamily="34" charset="-120"/>
              </a:rPr>
              <a:t>Target all upcoming capital expansion (10 beds)</a:t>
            </a:r>
          </a:p>
          <a:p>
            <a:pPr marL="0" indent="0" algn="ctr">
              <a:buNone/>
            </a:pPr>
            <a:r>
              <a:rPr lang="en-US" sz="1500" dirty="0">
                <a:solidFill>
                  <a:srgbClr val="475569"/>
                </a:solidFill>
                <a:latin typeface="Open Sans" pitchFamily="34" charset="0"/>
                <a:ea typeface="Open Sans" pitchFamily="34" charset="-122"/>
                <a:cs typeface="Open Sans" pitchFamily="34" charset="-120"/>
              </a:rPr>
              <a:t>strictly toward ​</a:t>
            </a:r>
          </a:p>
          <a:p>
            <a:pPr marL="0" indent="0" algn="ctr">
              <a:buNone/>
            </a:pPr>
            <a:r>
              <a:rPr lang="en-US" sz="1500" dirty="0">
                <a:solidFill>
                  <a:srgbClr val="475569"/>
                </a:solidFill>
                <a:latin typeface="Open Sans" pitchFamily="34" charset="0"/>
                <a:ea typeface="Open Sans" pitchFamily="34" charset="-122"/>
                <a:cs typeface="Open Sans" pitchFamily="34" charset="-120"/>
              </a:rPr>
              <a:t>the Elizabeth +5 and Scarborough +5 centers.</a:t>
            </a:r>
            <a:endParaRPr lang="en-US" sz="1500" dirty="0"/>
          </a:p>
        </p:txBody>
      </p:sp>
      <p:pic>
        <p:nvPicPr>
          <p:cNvPr id="16" name="Image 5" descr="preencoded.png"/>
          <p:cNvPicPr>
            <a:picLocks noChangeAspect="1"/>
          </p:cNvPicPr>
          <p:nvPr/>
        </p:nvPicPr>
        <p:blipFill>
          <a:blip r:embed="rId8"/>
          <a:srcRect l="-233" r="-233"/>
          <a:stretch/>
        </p:blipFill>
        <p:spPr>
          <a:xfrm>
            <a:off x="1123798" y="5191049"/>
            <a:ext cx="418795" cy="476402"/>
          </a:xfrm>
          <a:prstGeom prst="rect">
            <a:avLst/>
          </a:prstGeom>
        </p:spPr>
      </p:pic>
      <p:sp>
        <p:nvSpPr>
          <p:cNvPr id="17" name="Text 9"/>
          <p:cNvSpPr txBox="1"/>
          <p:nvPr/>
        </p:nvSpPr>
        <p:spPr>
          <a:xfrm>
            <a:off x="1904695" y="5052974"/>
            <a:ext cx="8686800" cy="181051"/>
          </a:xfrm>
          <a:prstGeom prst="rect">
            <a:avLst/>
          </a:prstGeom>
          <a:noFill/>
          <a:ln/>
        </p:spPr>
        <p:txBody>
          <a:bodyPr wrap="square" lIns="0" tIns="0" rIns="0" bIns="0" rtlCol="0" anchor="ctr"/>
          <a:lstStyle/>
          <a:p>
            <a:pPr marL="0" indent="0" algn="l">
              <a:buNone/>
            </a:pPr>
            <a:r>
              <a:rPr lang="en-US" sz="1200" b="1" kern="0" spc="150" dirty="0">
                <a:solidFill>
                  <a:srgbClr val="FACC15"/>
                </a:solidFill>
                <a:latin typeface="Montserrat" pitchFamily="34" charset="0"/>
                <a:ea typeface="Montserrat" pitchFamily="34" charset="-122"/>
                <a:cs typeface="Montserrat" pitchFamily="34" charset="-120"/>
              </a:rPr>
              <a:t>THE ULTIMATE GOAL</a:t>
            </a:r>
            <a:endParaRPr lang="en-US" sz="1200" dirty="0"/>
          </a:p>
        </p:txBody>
      </p:sp>
      <p:sp>
        <p:nvSpPr>
          <p:cNvPr id="18" name="Text 10"/>
          <p:cNvSpPr txBox="1"/>
          <p:nvPr/>
        </p:nvSpPr>
        <p:spPr>
          <a:xfrm>
            <a:off x="1904695" y="5271972"/>
            <a:ext cx="9427464" cy="648310"/>
          </a:xfrm>
          <a:prstGeom prst="rect">
            <a:avLst/>
          </a:prstGeom>
          <a:noFill/>
          <a:ln/>
        </p:spPr>
        <p:txBody>
          <a:bodyPr wrap="square" lIns="0" tIns="0" rIns="0" bIns="0" rtlCol="0" anchor="ctr"/>
          <a:lstStyle/>
          <a:p>
            <a:pPr marL="0" indent="0" algn="l">
              <a:buNone/>
            </a:pPr>
            <a:r>
              <a:rPr lang="en-US" sz="1900" b="1" dirty="0">
                <a:solidFill>
                  <a:srgbClr val="F8FAFC"/>
                </a:solidFill>
                <a:latin typeface="Montserrat" pitchFamily="34" charset="0"/>
                <a:ea typeface="Montserrat" pitchFamily="34" charset="-122"/>
                <a:cs typeface="Montserrat" pitchFamily="34" charset="-120"/>
              </a:rPr>
              <a:t>Maximize budget, lower healthcare costs, ensure nobody is left in the cold.</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01AAB6-54D6-F05C-B513-0ADC7F5A89A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7FFC0C7F-82C9-00FF-7008-A6BF9291F0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1D8B13AC-6960-0403-463A-5C288F682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FFFFD82-4273-5CE6-308B-7842BC3E5B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98FBFDDD-E7B1-FA79-E02B-22165C55B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82F9CFEF-D5F2-A6C0-F330-6112AFF759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Isosceles Triangle 16">
            <a:extLst>
              <a:ext uri="{FF2B5EF4-FFF2-40B4-BE49-F238E27FC236}">
                <a16:creationId xmlns:a16="http://schemas.microsoft.com/office/drawing/2014/main" id="{00AB0A15-AC4D-A4CA-5850-5A1AFBAC2B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Isosceles Triangle 18">
            <a:extLst>
              <a:ext uri="{FF2B5EF4-FFF2-40B4-BE49-F238E27FC236}">
                <a16:creationId xmlns:a16="http://schemas.microsoft.com/office/drawing/2014/main" id="{430AC0C3-76F1-DE7A-F985-E42961D5E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E0E78C63-2817-CE2D-D0FF-B40F266F68A8}"/>
              </a:ext>
            </a:extLst>
          </p:cNvPr>
          <p:cNvSpPr txBox="1"/>
          <p:nvPr/>
        </p:nvSpPr>
        <p:spPr>
          <a:xfrm>
            <a:off x="3048000" y="3015953"/>
            <a:ext cx="6096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37" normalizeH="0" baseline="0" noProof="0">
                <a:ln>
                  <a:noFill/>
                </a:ln>
                <a:solidFill>
                  <a:srgbClr val="3B82F6"/>
                </a:solidFill>
                <a:effectLst/>
                <a:uLnTx/>
                <a:uFillTx/>
                <a:latin typeface="Montserrat"/>
                <a:ea typeface="Montserrat"/>
                <a:cs typeface="Montserrat"/>
              </a:rPr>
              <a:t>Thank you!​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37" normalizeH="0" baseline="0" noProof="0">
                <a:ln>
                  <a:noFill/>
                </a:ln>
                <a:solidFill>
                  <a:srgbClr val="3B82F6"/>
                </a:solidFill>
                <a:effectLst/>
                <a:uLnTx/>
                <a:uFillTx/>
                <a:latin typeface="Montserrat"/>
                <a:ea typeface="Montserrat"/>
                <a:cs typeface="Montserrat"/>
              </a:rPr>
              <a:t>We are now open to your questions</a:t>
            </a:r>
          </a:p>
        </p:txBody>
      </p:sp>
    </p:spTree>
    <p:extLst>
      <p:ext uri="{BB962C8B-B14F-4D97-AF65-F5344CB8AC3E}">
        <p14:creationId xmlns:p14="http://schemas.microsoft.com/office/powerpoint/2010/main" val="76700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C27FB3-7776-BD78-70C0-983C29025FA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C5991BB-97FF-90CD-0DDB-719BA2B28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709C86E-D129-9B3F-FB12-7797B22F5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9D5DCB6-C1AB-8979-0FDE-3A8A0E2FA5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162ED6CD-4B3D-497F-C75C-D1FB672C4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D539C478-DFF9-3027-1393-713147F02F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Isosceles Triangle 16">
            <a:extLst>
              <a:ext uri="{FF2B5EF4-FFF2-40B4-BE49-F238E27FC236}">
                <a16:creationId xmlns:a16="http://schemas.microsoft.com/office/drawing/2014/main" id="{84F8BABE-1ECA-6103-55BC-506D8A0A5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Isosceles Triangle 18">
            <a:extLst>
              <a:ext uri="{FF2B5EF4-FFF2-40B4-BE49-F238E27FC236}">
                <a16:creationId xmlns:a16="http://schemas.microsoft.com/office/drawing/2014/main" id="{29B887B6-8628-1CC9-6D85-67E1411867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B5B4E6DC-1B39-BBA9-B5E1-50667CB14A76}"/>
              </a:ext>
            </a:extLst>
          </p:cNvPr>
          <p:cNvSpPr txBox="1"/>
          <p:nvPr/>
        </p:nvSpPr>
        <p:spPr>
          <a:xfrm>
            <a:off x="537663" y="1399400"/>
            <a:ext cx="11310017" cy="4778231"/>
          </a:xfrm>
          <a:prstGeom prst="rect">
            <a:avLst/>
          </a:prstGeom>
          <a:noFill/>
        </p:spPr>
        <p:txBody>
          <a:bodyPr wrap="square">
            <a:spAutoFit/>
          </a:bodyPr>
          <a:lstStyle/>
          <a:p>
            <a:r>
              <a:rPr lang="en-US" sz="1200" b="1" dirty="0">
                <a:solidFill>
                  <a:srgbClr val="3B82F6"/>
                </a:solidFill>
              </a:rPr>
              <a:t>AI Disclosure: ​</a:t>
            </a:r>
          </a:p>
          <a:p>
            <a:endParaRPr lang="en-US" sz="1200" dirty="0"/>
          </a:p>
          <a:p>
            <a:r>
              <a:rPr lang="en-US" sz="1200" dirty="0"/>
              <a:t>Google Gemini and OpenAI GPT have been used for brainstorming, refining our optimization models, checking grammar, and paraphrasing sections for better flow. While AI tools assist in drafting our models, all core thinking processes, logic, and final wording and decisions are our own. Specific interactions and generated content utilized in this proposal are cited in the References section.</a:t>
            </a:r>
          </a:p>
          <a:p>
            <a:endParaRPr lang="en-US" sz="1200" dirty="0"/>
          </a:p>
          <a:p>
            <a:r>
              <a:rPr lang="en-US" sz="1200" b="1" dirty="0">
                <a:solidFill>
                  <a:srgbClr val="3B82F6"/>
                </a:solidFill>
              </a:rPr>
              <a:t>Reference: </a:t>
            </a:r>
          </a:p>
          <a:p>
            <a:endParaRPr lang="en-US" sz="1050" b="1" dirty="0"/>
          </a:p>
          <a:p>
            <a:r>
              <a:rPr lang="en-US" sz="1050" dirty="0"/>
              <a:t>OpenAI. (2026). Decision Model Review [ChatGPT]. Accessed Feb 28, 2026, https://chatgpt.com/share/69a4086d-e77c-800e-bff0-542ea22c06b3. </a:t>
            </a:r>
          </a:p>
          <a:p>
            <a:endParaRPr lang="en-US" sz="1050" dirty="0"/>
          </a:p>
          <a:p>
            <a:r>
              <a:rPr lang="en-US" sz="1050" dirty="0"/>
              <a:t>Google. (2026). Grammar Check &amp; Paraphrasing for detail explanation and script [Gemini]. Accessed Mar 18, 2026, https://gemini.google.com/share/a545766d17ff. </a:t>
            </a:r>
          </a:p>
          <a:p>
            <a:endParaRPr lang="en-US" sz="1050" dirty="0"/>
          </a:p>
          <a:p>
            <a:r>
              <a:rPr lang="en-US" sz="1050" dirty="0"/>
              <a:t>Google. (2026). Poisson Demand Scenario Generation [Gemini]. Accessed March 19, 2026, https://gemini.google.com/share/a545766d17ff. </a:t>
            </a:r>
          </a:p>
          <a:p>
            <a:endParaRPr lang="en-US" sz="1050" dirty="0"/>
          </a:p>
          <a:p>
            <a:r>
              <a:rPr lang="en-US" sz="1050" dirty="0"/>
              <a:t>Google. (2026). Staffing Level Simulation using python [Gemini]. Accessed March 11, 2026, https://gemini.google.com/share/a545766d17ff. </a:t>
            </a:r>
          </a:p>
          <a:p>
            <a:endParaRPr lang="en-US" sz="1050" dirty="0"/>
          </a:p>
          <a:p>
            <a:r>
              <a:rPr lang="en-US" sz="1050" dirty="0"/>
              <a:t>Google. (2026). Bed Distribution Simulation using python [Gemini]. Accessed March 14, 2026, https://gemini.google.com/share/a545766d17ff. </a:t>
            </a:r>
          </a:p>
          <a:p>
            <a:endParaRPr lang="en-US" sz="1050" dirty="0"/>
          </a:p>
          <a:p>
            <a:r>
              <a:rPr lang="en-US" sz="1050" dirty="0"/>
              <a:t>Google. (2026). Gemini. Accessed March 18, 2026, https://gemini.google.com/app. </a:t>
            </a:r>
          </a:p>
          <a:p>
            <a:endParaRPr lang="en-US" sz="1050" dirty="0"/>
          </a:p>
          <a:p>
            <a:r>
              <a:rPr lang="en-US" sz="1050" dirty="0"/>
              <a:t>OpenAI. (2026). ChatGPT. </a:t>
            </a:r>
            <a:r>
              <a:rPr lang="en-US" sz="1050"/>
              <a:t>Accessed March 18, </a:t>
            </a:r>
            <a:r>
              <a:rPr lang="en-US" sz="1050" dirty="0"/>
              <a:t>2026, https://chatgpt.com. </a:t>
            </a:r>
          </a:p>
          <a:p>
            <a:endParaRPr lang="en-US" sz="1050" dirty="0"/>
          </a:p>
          <a:p>
            <a:r>
              <a:rPr lang="en-US" sz="1050" dirty="0"/>
              <a:t>City of Toronto. (n.d.). </a:t>
            </a:r>
            <a:r>
              <a:rPr lang="en-US" sz="1050" i="1" dirty="0"/>
              <a:t>Warming </a:t>
            </a:r>
            <a:r>
              <a:rPr lang="en-US" sz="1050" i="1" dirty="0" err="1"/>
              <a:t>centres</a:t>
            </a:r>
            <a:r>
              <a:rPr lang="en-US" sz="1050" dirty="0"/>
              <a:t>. </a:t>
            </a:r>
            <a:r>
              <a:rPr lang="en-US" sz="1050" dirty="0">
                <a:hlinkClick r:id="rId2"/>
              </a:rPr>
              <a:t>https://www.toronto.ca/community-people/housing-shelter/homeless-help/toronto-warming-centres/</a:t>
            </a:r>
            <a:endParaRPr lang="en-US" sz="1050" dirty="0"/>
          </a:p>
          <a:p>
            <a:endParaRPr lang="en-US" sz="1050" dirty="0"/>
          </a:p>
          <a:p>
            <a:r>
              <a:rPr lang="en-US" sz="1050" dirty="0"/>
              <a:t>City of Toronto. (2025). Daily shelter &amp; overnight service occupancy &amp; capacity [Data set]. </a:t>
            </a:r>
            <a:r>
              <a:rPr lang="en-US" sz="1050" dirty="0">
                <a:hlinkClick r:id="rId3"/>
              </a:rPr>
              <a:t>https://open.toronto.ca/dataset/daily-shelter-overnight-service-occupancy-capacity/</a:t>
            </a:r>
            <a:endParaRPr lang="en-US" sz="1050" dirty="0"/>
          </a:p>
          <a:p>
            <a:endParaRPr lang="en-US" sz="1050" dirty="0"/>
          </a:p>
          <a:p>
            <a:r>
              <a:rPr lang="en-US" sz="1050" dirty="0"/>
              <a:t>City of Toronto. (2024). </a:t>
            </a:r>
            <a:r>
              <a:rPr lang="en-US" sz="1050" i="1" dirty="0"/>
              <a:t>Homelessness &amp; shelter operator expression of interest</a:t>
            </a:r>
            <a:r>
              <a:rPr lang="en-US" sz="1050" dirty="0"/>
              <a:t>. </a:t>
            </a:r>
            <a:r>
              <a:rPr lang="en-US" sz="1050" dirty="0">
                <a:hlinkClick r:id="rId4"/>
              </a:rPr>
              <a:t>https://www.toronto.ca/community-people/community-partners/emergency-shelter-operators/expressions-of-interest/homelessness-shelter-operator-expression-of-interest/</a:t>
            </a:r>
            <a:endParaRPr lang="en-US" sz="1050" dirty="0"/>
          </a:p>
        </p:txBody>
      </p:sp>
      <p:sp>
        <p:nvSpPr>
          <p:cNvPr id="4" name="TextBox 3">
            <a:extLst>
              <a:ext uri="{FF2B5EF4-FFF2-40B4-BE49-F238E27FC236}">
                <a16:creationId xmlns:a16="http://schemas.microsoft.com/office/drawing/2014/main" id="{0AB1D120-5C9B-FEB5-993A-20DE25B9D9CC}"/>
              </a:ext>
            </a:extLst>
          </p:cNvPr>
          <p:cNvSpPr txBox="1"/>
          <p:nvPr/>
        </p:nvSpPr>
        <p:spPr>
          <a:xfrm>
            <a:off x="3219512" y="488219"/>
            <a:ext cx="5752975" cy="461665"/>
          </a:xfrm>
          <a:prstGeom prst="rect">
            <a:avLst/>
          </a:prstGeom>
          <a:noFill/>
        </p:spPr>
        <p:txBody>
          <a:bodyPr wrap="square">
            <a:spAutoFit/>
          </a:bodyPr>
          <a:lstStyle/>
          <a:p>
            <a:pPr algn="ctr"/>
            <a:r>
              <a:rPr lang="en-US" sz="2400" b="1" kern="0" spc="-37" dirty="0">
                <a:solidFill>
                  <a:srgbClr val="3B82F6"/>
                </a:solidFill>
                <a:latin typeface="Montserrat" pitchFamily="34" charset="0"/>
                <a:ea typeface="Montserrat" pitchFamily="34" charset="-122"/>
                <a:cs typeface="Montserrat" pitchFamily="34" charset="-120"/>
              </a:rPr>
              <a:t>Appendix</a:t>
            </a:r>
            <a:endParaRPr lang="en-US" sz="2400" dirty="0"/>
          </a:p>
        </p:txBody>
      </p:sp>
    </p:spTree>
    <p:extLst>
      <p:ext uri="{BB962C8B-B14F-4D97-AF65-F5344CB8AC3E}">
        <p14:creationId xmlns:p14="http://schemas.microsoft.com/office/powerpoint/2010/main" val="479294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TotalTime>
  <Words>1255</Words>
  <Application>Microsoft Office PowerPoint</Application>
  <PresentationFormat>Widescreen</PresentationFormat>
  <Paragraphs>187</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Montserrat</vt:lpstr>
      <vt:lpstr>Open Sans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Fangyuan Bao</cp:lastModifiedBy>
  <cp:revision>34</cp:revision>
  <dcterms:created xsi:type="dcterms:W3CDTF">2026-03-16T08:05:52Z</dcterms:created>
  <dcterms:modified xsi:type="dcterms:W3CDTF">2026-05-13T22:01:13Z</dcterms:modified>
</cp:coreProperties>
</file>